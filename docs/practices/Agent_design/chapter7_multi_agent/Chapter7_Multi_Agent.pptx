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6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1828800" y="2286000"/>
            <a:ext cx="12801600" cy="2743200"/>
          </a:xfrm>
          <a:prstGeom prst="parallelogram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2743200"/>
            <a:ext cx="1828800" cy="762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0A4AE"/>
                </a:solidFill>
                <a:latin typeface="Arial"/>
              </a:defRPr>
            </a:pPr>
            <a:r>
              <a:t>CHAPTER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Multi-Agent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Arial"/>
              </a:defRPr>
            </a:pPr>
            <a:r>
              <a:t>Coordinated Agent Teams for Complex Tasks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17920"/>
            <a:ext cx="9144000" cy="2540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46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371600" cy="635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645920"/>
            <a:ext cx="457200" cy="457200"/>
          </a:xfrm>
          <a:prstGeom prst="ellipse">
            <a:avLst/>
          </a:prstGeom>
          <a:solidFill>
            <a:srgbClr val="46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63238"/>
                </a:solidFill>
                <a:latin typeface="Arial"/>
              </a:defRPr>
            </a:pPr>
            <a:r>
              <a:t>Background &amp; Motivation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331720"/>
            <a:ext cx="457200" cy="457200"/>
          </a:xfrm>
          <a:prstGeom prst="ellipse">
            <a:avLst/>
          </a:prstGeom>
          <a:solidFill>
            <a:srgbClr val="46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23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63238"/>
                </a:solidFill>
                <a:latin typeface="Arial"/>
              </a:defRPr>
            </a:pPr>
            <a:r>
              <a:t>Key Concepts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rgbClr val="46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108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089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63238"/>
                </a:solidFill>
                <a:latin typeface="Arial"/>
              </a:defRPr>
            </a:pPr>
            <a:r>
              <a:t>Comparison Analysis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703320"/>
            <a:ext cx="457200" cy="457200"/>
          </a:xfrm>
          <a:prstGeom prst="ellipse">
            <a:avLst/>
          </a:prstGeom>
          <a:solidFill>
            <a:srgbClr val="46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794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947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63238"/>
                </a:solidFill>
                <a:latin typeface="Arial"/>
              </a:defRPr>
            </a:pPr>
            <a:r>
              <a:t>Implementation Examples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4389120"/>
            <a:ext cx="457200" cy="457200"/>
          </a:xfrm>
          <a:prstGeom prst="ellipse">
            <a:avLst/>
          </a:prstGeom>
          <a:solidFill>
            <a:srgbClr val="46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480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480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63238"/>
                </a:solidFill>
                <a:latin typeface="Arial"/>
              </a:defRPr>
            </a:pPr>
            <a:r>
              <a:t>Use Cases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5074920"/>
            <a:ext cx="457200" cy="457200"/>
          </a:xfrm>
          <a:prstGeom prst="ellipse">
            <a:avLst/>
          </a:prstGeom>
          <a:solidFill>
            <a:srgbClr val="46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166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166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63238"/>
                </a:solidFill>
                <a:latin typeface="Arial"/>
              </a:defRPr>
            </a:pPr>
            <a:r>
              <a:t>Summary &amp;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46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371600" cy="635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01600" cy="5029200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1645920"/>
            <a:ext cx="137160" cy="137160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63238"/>
                </a:solidFill>
                <a:latin typeface="Arial"/>
              </a:defRPr>
            </a:pPr>
            <a:r>
              <a:t>Single agents have limited capabilities and perspectives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377440"/>
            <a:ext cx="137160" cy="137160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63238"/>
                </a:solidFill>
                <a:latin typeface="Arial"/>
              </a:defRPr>
            </a:pPr>
            <a:r>
              <a:t>Complex tasks require diverse expertise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108960"/>
            <a:ext cx="137160" cy="137160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175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63238"/>
                </a:solidFill>
                <a:latin typeface="Arial"/>
              </a:defRPr>
            </a:pPr>
            <a:r>
              <a:t>Collaboration enables specialization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840480"/>
            <a:ext cx="137160" cy="137160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490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63238"/>
                </a:solidFill>
                <a:latin typeface="Arial"/>
              </a:defRPr>
            </a:pPr>
            <a:r>
              <a:t>Different agents bring unique strengths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572000"/>
            <a:ext cx="137160" cy="137160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805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63238"/>
                </a:solidFill>
                <a:latin typeface="Arial"/>
              </a:defRPr>
            </a:pPr>
            <a:r>
              <a:t>Coordinated teams outperform individuals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07D8B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46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371600" cy="635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01600" cy="5029200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1645920"/>
            <a:ext cx="137160" cy="137160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63238"/>
                </a:solidFill>
                <a:latin typeface="Arial"/>
              </a:defRPr>
            </a:pPr>
            <a:r>
              <a:t>Leverage specialized domain expertise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377440"/>
            <a:ext cx="137160" cy="137160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63238"/>
                </a:solidFill>
                <a:latin typeface="Arial"/>
              </a:defRPr>
            </a:pPr>
            <a:r>
              <a:t>Distribute workload across capabilities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108960"/>
            <a:ext cx="137160" cy="137160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175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63238"/>
                </a:solidFill>
                <a:latin typeface="Arial"/>
              </a:defRPr>
            </a:pPr>
            <a:r>
              <a:t>Enable parallel task execution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840480"/>
            <a:ext cx="137160" cy="137160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490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63238"/>
                </a:solidFill>
                <a:latin typeface="Arial"/>
              </a:defRPr>
            </a:pPr>
            <a:r>
              <a:t>Incorporate multiple perspectives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572000"/>
            <a:ext cx="137160" cy="137160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805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63238"/>
                </a:solidFill>
                <a:latin typeface="Arial"/>
              </a:defRPr>
            </a:pPr>
            <a:r>
              <a:t>Build robust, fault-tolerant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07D8B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46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Key Concepts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371600" cy="635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554480"/>
            <a:ext cx="40233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07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76200" cy="1188720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64F5A"/>
                </a:solidFill>
                <a:latin typeface="Arial"/>
              </a:defRPr>
            </a:pPr>
            <a:r>
              <a:t>Agent Roles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3238"/>
                </a:solidFill>
                <a:latin typeface="Arial"/>
              </a:defRPr>
            </a:pPr>
            <a:r>
              <a:t>Specialized responsibilities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554480"/>
            <a:ext cx="40233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07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554480"/>
            <a:ext cx="76200" cy="1188720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64F5A"/>
                </a:solidFill>
                <a:latin typeface="Arial"/>
              </a:defRPr>
            </a:pPr>
            <a:r>
              <a:t>Communication 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057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3238"/>
                </a:solidFill>
                <a:latin typeface="Arial"/>
              </a:defRPr>
            </a:pPr>
            <a:r>
              <a:t>Inter-agent messaging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2926080"/>
            <a:ext cx="40233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07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76200" cy="1188720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063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64F5A"/>
                </a:solidFill>
                <a:latin typeface="Arial"/>
              </a:defRPr>
            </a:pPr>
            <a:r>
              <a:t>Coordination 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429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3238"/>
                </a:solidFill>
                <a:latin typeface="Arial"/>
              </a:defRPr>
            </a:pPr>
            <a:r>
              <a:t>Task distribution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2926080"/>
            <a:ext cx="40233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07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0" y="2926080"/>
            <a:ext cx="76200" cy="1188720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3063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64F5A"/>
                </a:solidFill>
                <a:latin typeface="Arial"/>
              </a:defRPr>
            </a:pPr>
            <a:r>
              <a:t>Consensus Building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429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3238"/>
                </a:solidFill>
                <a:latin typeface="Arial"/>
              </a:defRPr>
            </a:pPr>
            <a:r>
              <a:t>Collective decision-making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4297680"/>
            <a:ext cx="40233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07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4297680"/>
            <a:ext cx="76200" cy="1188720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434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64F5A"/>
                </a:solidFill>
                <a:latin typeface="Arial"/>
              </a:defRPr>
            </a:pPr>
            <a:r>
              <a:t>Hierarchical 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00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3238"/>
                </a:solidFill>
                <a:latin typeface="Arial"/>
              </a:defRPr>
            </a:pPr>
            <a:r>
              <a:t>Leader-follower patterns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07D8B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46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Comparison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63040"/>
            <a:ext cx="4114800" cy="54864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Without Pattern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463040"/>
            <a:ext cx="4114800" cy="5486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With Pattern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103120"/>
            <a:ext cx="411480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2377440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238"/>
                </a:solidFill>
                <a:latin typeface="Arial"/>
              </a:defRPr>
            </a:pPr>
            <a:r>
              <a:t>Simple architecture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063240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71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238"/>
                </a:solidFill>
                <a:latin typeface="Arial"/>
              </a:defRPr>
            </a:pPr>
            <a:r>
              <a:t>Unified decisions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749040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576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238"/>
                </a:solidFill>
                <a:latin typeface="Arial"/>
              </a:defRPr>
            </a:pPr>
            <a:r>
              <a:t>Limited expertise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4434840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434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238"/>
                </a:solidFill>
                <a:latin typeface="Arial"/>
              </a:defRPr>
            </a:pPr>
            <a:r>
              <a:t>Single point of failure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5120640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238"/>
                </a:solidFill>
                <a:latin typeface="Arial"/>
              </a:defRPr>
            </a:pPr>
            <a:r>
              <a:t>Bottleneck in complex tasks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2103120"/>
            <a:ext cx="411480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937760" y="2377440"/>
            <a:ext cx="109728" cy="10972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22860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238"/>
                </a:solidFill>
                <a:latin typeface="Arial"/>
              </a:defRPr>
            </a:pPr>
            <a:r>
              <a:t>Complex coordination</a:t>
            </a:r>
          </a:p>
        </p:txBody>
      </p:sp>
      <p:sp>
        <p:nvSpPr>
          <p:cNvPr id="23" name="Oval 22"/>
          <p:cNvSpPr/>
          <p:nvPr/>
        </p:nvSpPr>
        <p:spPr>
          <a:xfrm>
            <a:off x="4937760" y="3063240"/>
            <a:ext cx="109728" cy="10972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0" y="2971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238"/>
                </a:solidFill>
                <a:latin typeface="Arial"/>
              </a:defRPr>
            </a:pPr>
            <a:r>
              <a:t>Distributed expertise</a:t>
            </a:r>
          </a:p>
        </p:txBody>
      </p:sp>
      <p:sp>
        <p:nvSpPr>
          <p:cNvPr id="25" name="Oval 24"/>
          <p:cNvSpPr/>
          <p:nvPr/>
        </p:nvSpPr>
        <p:spPr>
          <a:xfrm>
            <a:off x="4937760" y="3749040"/>
            <a:ext cx="109728" cy="10972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0" y="36576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238"/>
                </a:solidFill>
                <a:latin typeface="Arial"/>
              </a:defRPr>
            </a:pPr>
            <a:r>
              <a:t>Parallel processing</a:t>
            </a:r>
          </a:p>
        </p:txBody>
      </p:sp>
      <p:sp>
        <p:nvSpPr>
          <p:cNvPr id="27" name="Oval 26"/>
          <p:cNvSpPr/>
          <p:nvPr/>
        </p:nvSpPr>
        <p:spPr>
          <a:xfrm>
            <a:off x="4937760" y="4434840"/>
            <a:ext cx="109728" cy="10972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43434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238"/>
                </a:solidFill>
                <a:latin typeface="Arial"/>
              </a:defRPr>
            </a:pPr>
            <a:r>
              <a:t>Redundancy &amp; resilience</a:t>
            </a:r>
          </a:p>
        </p:txBody>
      </p:sp>
      <p:sp>
        <p:nvSpPr>
          <p:cNvPr id="29" name="Oval 28"/>
          <p:cNvSpPr/>
          <p:nvPr/>
        </p:nvSpPr>
        <p:spPr>
          <a:xfrm>
            <a:off x="4937760" y="5120640"/>
            <a:ext cx="109728" cy="10972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5029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238"/>
                </a:solidFill>
                <a:latin typeface="Arial"/>
              </a:defRPr>
            </a:pPr>
            <a:r>
              <a:t>Scalable handling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07D8B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46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Use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371600" cy="635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01600" cy="5029200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1645920"/>
            <a:ext cx="137160" cy="137160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63238"/>
                </a:solidFill>
                <a:latin typeface="Arial"/>
              </a:defRPr>
            </a:pPr>
            <a:r>
              <a:t>Software development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377440"/>
            <a:ext cx="137160" cy="137160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63238"/>
                </a:solidFill>
                <a:latin typeface="Arial"/>
              </a:defRPr>
            </a:pPr>
            <a:r>
              <a:t>Research &amp; analysis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108960"/>
            <a:ext cx="137160" cy="137160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175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63238"/>
                </a:solidFill>
                <a:latin typeface="Arial"/>
              </a:defRPr>
            </a:pPr>
            <a:r>
              <a:t>Customer service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840480"/>
            <a:ext cx="137160" cy="137160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490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63238"/>
                </a:solidFill>
                <a:latin typeface="Arial"/>
              </a:defRPr>
            </a:pPr>
            <a:r>
              <a:t>Complex decisions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572000"/>
            <a:ext cx="137160" cy="137160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805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63238"/>
                </a:solidFill>
                <a:latin typeface="Arial"/>
              </a:defRPr>
            </a:pPr>
            <a:r>
              <a:t>Creative collaboration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07D8B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46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Code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7680960" cy="1828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EC9B0"/>
                </a:solidFill>
                <a:latin typeface="Courier New"/>
              </a:defRPr>
            </a:pPr>
            <a:r>
              <a:t>$ python src/agents/patterns/multi_agent.py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63238"/>
                </a:solidFill>
                <a:latin typeface="Arial"/>
              </a:defRPr>
            </a:pPr>
            <a:r>
              <a:t>Run this command to execute the 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76809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07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238"/>
                </a:solidFill>
                <a:latin typeface="Arial"/>
              </a:defRPr>
            </a:pPr>
            <a:r>
              <a:t>Features: LangChain LCEL | Google ADK | Async Support | Error Handling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07D8B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6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5486400" y="0"/>
            <a:ext cx="5486400" cy="6858000"/>
          </a:xfrm>
          <a:prstGeom prst="parallelogram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828800" cy="635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65760" cy="365760"/>
          </a:xfrm>
          <a:prstGeom prst="round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64F5A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Understand the problem context and motivation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365760" cy="365760"/>
          </a:xfrm>
          <a:prstGeom prst="round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64F5A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31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Apply the pattern when conditions are met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08960"/>
            <a:ext cx="365760" cy="365760"/>
          </a:xfrm>
          <a:prstGeom prst="round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1546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64F5A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154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Compare trade-offs before implementation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365760" cy="365760"/>
          </a:xfrm>
          <a:prstGeom prst="round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9776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64F5A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977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Follow best practices for optimal results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54880"/>
            <a:ext cx="365760" cy="365760"/>
          </a:xfrm>
          <a:prstGeom prst="round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8006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64F5A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800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Monitor and iterate for continuous improvement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6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1828800" y="3657600"/>
            <a:ext cx="5486400" cy="3657600"/>
          </a:xfrm>
          <a:prstGeom prst="parallelogram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828800" cy="635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[1] Park, J.S., et al. (2023). Generative Agents. arXiv:2304.03442.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[2] AutoGen Framework - microsoft.github.io/autogen/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[3] CrewAI Documentation - docs.crewai.com/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[4] Wooldridge, M. (2009). An Introduction to MultiAgent Systems. Wiley.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[5] Ferber, J. (1999). Multi-Agent Systems. Addison-Wesley.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