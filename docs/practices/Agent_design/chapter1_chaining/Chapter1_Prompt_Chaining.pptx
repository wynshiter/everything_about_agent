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400" b="0">
                <a:solidFill>
                  <a:srgbClr val="02C39A"/>
                </a:solidFill>
                <a:latin typeface="Arial"/>
              </a:defRPr>
            </a:pPr>
            <a: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Prompt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000" b="0">
                <a:solidFill>
                  <a:srgbClr val="02C39A"/>
                </a:solidFill>
                <a:latin typeface="Arial"/>
              </a:defRPr>
            </a:pPr>
            <a:r>
              <a:t>提示词链设计模式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18288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Everything About Agent - Agent 学习与开发系统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3200" b="1">
                <a:solidFill>
                  <a:srgbClr val="21295C"/>
                </a:solidFill>
                <a:latin typeface="Arial Black"/>
              </a:defRPr>
            </a:pPr>
            <a:r>
              <a:t>什么是 Prompt Chaining?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600" b="0">
                <a:solidFill>
                  <a:srgbClr val="475569"/>
                </a:solidFill>
                <a:latin typeface="Arial"/>
              </a:defRPr>
            </a:pPr>
            <a:r>
              <a:t>Prompt Chaining 是一种将复杂任务分解为一系列较小、较简单的子任务的设计模式。每个子任务由一个独立的 LLM 调用处理，前一个步骤的输出作为下一个步骤的输入。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800" b="1">
                <a:solidFill>
                  <a:srgbClr val="21295C"/>
                </a:solidFill>
                <a:latin typeface="Arial"/>
              </a:defRPr>
            </a:pPr>
            <a:r>
              <a:t>工作流程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463040" cy="82296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输入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57400" y="365760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3383280"/>
            <a:ext cx="146304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383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40480" y="365760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3383280"/>
            <a:ext cx="146304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383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23559" y="365760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97880" y="3383280"/>
            <a:ext cx="146304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383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06640" y="365760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0" y="3383280"/>
            <a:ext cx="1463040" cy="82296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3200" b="1">
                <a:solidFill>
                  <a:srgbClr val="21295C"/>
                </a:solidFill>
                <a:latin typeface="Arial Black"/>
              </a:defRPr>
            </a:pPr>
            <a:r>
              <a:t>核心优势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3200" b="0">
                <a:latin typeface="Arial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800" b="1">
                <a:solidFill>
                  <a:srgbClr val="21295C"/>
                </a:solidFill>
                <a:latin typeface="Arial"/>
              </a:defRPr>
            </a:pPr>
            <a:r>
              <a:t>降低复杂度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LLM 在处理单一、专注的任务时表现更好，避免被复杂任务混淆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4592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3200" b="0">
                <a:latin typeface="Arial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800" b="1">
                <a:solidFill>
                  <a:srgbClr val="21295C"/>
                </a:solidFill>
                <a:latin typeface="Arial"/>
              </a:defRPr>
            </a:pPr>
            <a:r>
              <a:t>提高可靠性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346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可以检查和验证每一步的中间结果，确保最终输出质量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651760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64592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3200" b="0">
                <a:latin typeface="Arial"/>
              </a:defRPr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800" b="1">
                <a:solidFill>
                  <a:srgbClr val="21295C"/>
                </a:solidFill>
                <a:latin typeface="Arial"/>
              </a:defRPr>
            </a:pPr>
            <a:r>
              <a:t>便于调试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346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容易定位哪个环节出了问题，快速迭代改进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800" b="1">
                <a:solidFill>
                  <a:srgbClr val="21295C"/>
                </a:solidFill>
                <a:latin typeface="Arial Black"/>
              </a:defRPr>
            </a:pPr>
            <a:r>
              <a:t>练习1: 基础提取流水线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Arial"/>
              </a:defRPr>
            </a:pPr>
            <a:r>
              <a:t>Basic Extraction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31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065A82"/>
                </a:solidFill>
                <a:latin typeface="Arial"/>
              </a:defRPr>
            </a:pPr>
            <a:r>
              <a:t>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从非结构化文本中提取技术规格，并转换为标准 JSON 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21295C"/>
                </a:solidFill>
                <a:latin typeface="Arial"/>
              </a:defRPr>
            </a:pPr>
            <a:r>
              <a:t>处理流程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20240"/>
            <a:ext cx="822960" cy="41148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822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92024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技术规格文本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423160"/>
            <a:ext cx="822960" cy="4114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423160"/>
            <a:ext cx="822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42316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提取 CPU/内存/存储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926080"/>
            <a:ext cx="82296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80"/>
            <a:ext cx="822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9260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转换为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29000"/>
            <a:ext cx="822960" cy="41148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429000"/>
            <a:ext cx="822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2900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结构化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21295C"/>
                </a:solidFill>
                <a:latin typeface="Arial"/>
              </a:defRPr>
            </a:pPr>
            <a:r>
              <a:t>示例代码结构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# 使用 LangChain LCEL 构建链式处理</a:t>
            </a:r>
            <a:br/>
            <a:r>
              <a:t>extraction_chain = prompt_extract | llm | StrOutputParser()</a:t>
            </a:r>
            <a:br/>
            <a:r>
              <a:t>full_chain = {"specifications": extraction_chain} | prompt_transform | llm | StrOutputParser()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2800" b="1">
                <a:solidFill>
                  <a:srgbClr val="21295C"/>
                </a:solidFill>
                <a:latin typeface="Arial Black"/>
              </a:defRPr>
            </a:pPr>
            <a:r>
              <a:t>练习2: 创意写作流水线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Arial"/>
              </a:defRPr>
            </a:pPr>
            <a:r>
              <a:t>Creative Writing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931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065A82"/>
                </a:solidFill>
                <a:latin typeface="Arial"/>
              </a:defRPr>
            </a:pPr>
            <a:r>
              <a:t>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根据写作主题，逐步生成标题、大纲和引言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21295C"/>
                </a:solidFill>
                <a:latin typeface="Arial"/>
              </a:defRPr>
            </a:pPr>
            <a:r>
              <a:t>处理流程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28800"/>
            <a:ext cx="822960" cy="36576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写作主题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286000"/>
            <a:ext cx="822960" cy="3657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860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生成吸引人的标题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743200"/>
            <a:ext cx="822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7432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根据标题生成大纲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200400"/>
            <a:ext cx="822960" cy="3657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2004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200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撰写引言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657600"/>
            <a:ext cx="822960" cy="36576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6576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6576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完整博客引言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21295C"/>
                </a:solidFill>
                <a:latin typeface="Arial"/>
              </a:defRPr>
            </a:pPr>
            <a:r>
              <a:t>特点: 演示顺序依赖关系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08960"/>
            <a:ext cx="3931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• 每一步依赖前一步的输出</a:t>
            </a:r>
            <a:br/>
            <a:r>
              <a:t>• 展示多步骤链式处理的典型模式</a:t>
            </a:r>
            <a:br/>
            <a:r>
              <a:t>• 适合需要逐步构建内容的场景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3200" b="1">
                <a:solidFill>
                  <a:srgbClr val="21295C"/>
                </a:solidFill>
                <a:latin typeface="Arial Black"/>
              </a:defRPr>
            </a:pPr>
            <a:r>
              <a:t>如何运行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9319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9144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600" b="1">
                <a:solidFill>
                  <a:srgbClr val="21295C"/>
                </a:solidFill>
                <a:latin typeface="Arial"/>
              </a:defRPr>
            </a:pPr>
            <a:r>
              <a:t>方法1: 使用启动脚本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02C39A"/>
                </a:solidFill>
                <a:latin typeface="Arial"/>
              </a:defRPr>
            </a:pPr>
            <a:r>
              <a:t>推荐方式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474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1. 找到目录:</a:t>
            </a:r>
            <a:br/>
            <a:r>
              <a:t>   src/practices/Agent_design/chapter1_chaining</a:t>
            </a:r>
            <a:br/>
            <a:br/>
            <a:r>
              <a:t>2. 双击运行 run.bat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9319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9144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600" b="1">
                <a:solidFill>
                  <a:srgbClr val="21295C"/>
                </a:solidFill>
                <a:latin typeface="Arial"/>
              </a:defRPr>
            </a:pPr>
            <a:r>
              <a:t>方法2: 命令行运行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920240"/>
            <a:ext cx="34747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011680"/>
            <a:ext cx="3291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000" b="0">
                <a:solidFill>
                  <a:srgbClr val="22D3EE"/>
                </a:solidFill>
                <a:latin typeface="Consolas"/>
              </a:defRPr>
            </a:pPr>
            <a:r>
              <a:t>cd src/practices/Agent_design/chapter1_chaining</a:t>
            </a:r>
            <a:br/>
            <a:r>
              <a:t>python chapter1_chaining_practice.py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1">
                <a:solidFill>
                  <a:srgbClr val="21295C"/>
                </a:solidFill>
                <a:latin typeface="Arial"/>
              </a:defRPr>
            </a:pPr>
            <a:r>
              <a:t>运行环境要求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Arial"/>
              </a:defRPr>
            </a:pPr>
            <a:r>
              <a:t>Python 3.10+  •  langchain  •  langchain-core  •  loguru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228600" cy="228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Prompt Chaining 将复杂任务分解为顺序执行的子任务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86000"/>
            <a:ext cx="228600" cy="228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每个步骤的输出作为下一步的输入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926080"/>
            <a:ext cx="228600" cy="228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使用 LangChain LCEL 的 | 操作符构建处理链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66159"/>
            <a:ext cx="228600" cy="228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39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适合需要逐步处理的场景，如信息提取、内容生成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  <a:defRPr sz="1400" b="0">
                <a:solidFill>
                  <a:srgbClr val="02C39A"/>
                </a:solidFill>
                <a:latin typeface="Arial"/>
              </a:defRPr>
            </a:pPr>
            <a:r>
              <a:t>下一章: Routing (路由模式)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