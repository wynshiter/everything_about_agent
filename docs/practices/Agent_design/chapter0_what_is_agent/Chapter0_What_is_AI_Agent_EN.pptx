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926080"/>
            <a:ext cx="1828800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  <a:latin typeface="Arial"/>
              </a:defRPr>
            </a:pPr>
            <a:r>
              <a:t>What is AI Agent?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60A5FA"/>
                </a:solidFill>
                <a:latin typeface="Arial"/>
              </a:defRPr>
            </a:pPr>
            <a:r>
              <a:t>Fundamental Concepts and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5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51B2B"/>
                </a:solidFill>
                <a:latin typeface="Arial"/>
              </a:defRPr>
            </a:pPr>
            <a:r>
              <a:t>🎯 Learning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74151"/>
                </a:solidFill>
                <a:latin typeface="Arial"/>
              </a:defRPr>
            </a:pPr>
            <a:r>
              <a:t>●  Understand the core definition and essential characteristics of AI Agent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74151"/>
                </a:solidFill>
                <a:latin typeface="Arial"/>
              </a:defRPr>
            </a:pPr>
            <a:r>
              <a:t>●  Master the differences and connections between AI Agent, LLM, and RAG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74151"/>
                </a:solidFill>
                <a:latin typeface="Arial"/>
              </a:defRPr>
            </a:pPr>
            <a:r>
              <a:t>●  Learn the core architecture components of AI Agent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74151"/>
                </a:solidFill>
                <a:latin typeface="Arial"/>
              </a:defRPr>
            </a:pPr>
            <a:r>
              <a:t>●  Understand the working loop and decision-making process of AI Agent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74151"/>
                </a:solidFill>
                <a:latin typeface="Arial"/>
              </a:defRPr>
            </a:pPr>
            <a:r>
              <a:t>●  Recognize typical application scenarios of AI Agent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5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51B2B"/>
                </a:solidFill>
                <a:latin typeface="Arial"/>
              </a:defRPr>
            </a:pPr>
            <a:r>
              <a:t>1. What is AI Agent?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74151"/>
                </a:solidFill>
                <a:latin typeface="Arial"/>
              </a:defRPr>
            </a:pPr>
            <a:r>
              <a:t>●  AI Agent is an intelligent system that can perceive environment, make decisions, and take actions autonomously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74151"/>
                </a:solidFill>
                <a:latin typeface="Arial"/>
              </a:defRPr>
            </a:pPr>
            <a:r>
              <a:t>●  Core characteristics: Autonomous, Proactive, Goal-oriented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74151"/>
                </a:solidFill>
                <a:latin typeface="Arial"/>
              </a:defRPr>
            </a:pPr>
            <a:r>
              <a:t>●  Difference from traditional AI: Not just Q&amp;A, but active thinking, planning, and completing complex tasks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74151"/>
                </a:solidFill>
                <a:latin typeface="Arial"/>
              </a:defRPr>
            </a:pPr>
            <a:r>
              <a:t>●  Authoritative definition: Agent = LLM + Memory + Planning + Tool Use (OpenAI)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74151"/>
                </a:solidFill>
                <a:latin typeface="Arial"/>
              </a:defRPr>
            </a:pPr>
            <a:r>
              <a:t>●  Simple analogy: If traditional AI is a "Q&amp;A machine", AI Agent is an "intelligent assistant/digital employee"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51B2B"/>
                </a:solidFill>
                <a:latin typeface="Arial"/>
              </a:defRPr>
            </a:pPr>
            <a:r>
              <a:t>LLM vs RAG vs AI Agent: An Analogy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3474720" cy="4754880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3474720" cy="7315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3474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LLM</a:t>
            </a:r>
            <a:br/>
            <a:r>
              <a:t>Language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3474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DC2626"/>
                </a:solidFill>
                <a:latin typeface="Arial"/>
              </a:defRPr>
            </a:pPr>
            <a:r>
              <a:t>Brilliant brain in</a:t>
            </a:r>
            <a:br/>
            <a:r>
              <a:t>a sealed jar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92608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400">
                <a:solidFill>
                  <a:srgbClr val="374151"/>
                </a:solidFill>
                <a:latin typeface="Arial"/>
              </a:defRPr>
            </a:pPr>
            <a:r>
              <a:t>• Vast knowledge</a:t>
            </a:r>
            <a:br/>
            <a:r>
              <a:t>• Cannot perceive world</a:t>
            </a:r>
            <a:br/>
            <a:r>
              <a:t>• Cannot take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371600"/>
            <a:ext cx="3474720" cy="475488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06240" y="1371600"/>
            <a:ext cx="3474720" cy="7315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0" y="1463040"/>
            <a:ext cx="3474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RAG</a:t>
            </a:r>
            <a:br/>
            <a:r>
              <a:t>Retrieval Augmented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2286000"/>
            <a:ext cx="3474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D97706"/>
                </a:solidFill>
                <a:latin typeface="Arial"/>
              </a:defRPr>
            </a:pPr>
            <a:r>
              <a:t>Brain + Librarian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92608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400">
                <a:solidFill>
                  <a:srgbClr val="374151"/>
                </a:solidFill>
                <a:latin typeface="Arial"/>
              </a:defRPr>
            </a:pPr>
            <a:r>
              <a:t>• Access external knowledge</a:t>
            </a:r>
            <a:br/>
            <a:r>
              <a:t>• More accurate info</a:t>
            </a:r>
            <a:br/>
            <a:r>
              <a:t>• Still cannot act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1371600"/>
            <a:ext cx="3474720" cy="4754880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863840" y="1371600"/>
            <a:ext cx="3474720" cy="7315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1463040"/>
            <a:ext cx="3474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AI Agent</a:t>
            </a:r>
            <a:br/>
            <a:r>
              <a:t>Autonomous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2286000"/>
            <a:ext cx="3474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59669"/>
                </a:solidFill>
                <a:latin typeface="Arial"/>
              </a:defRPr>
            </a:pPr>
            <a:r>
              <a:t>Brain with a</a:t>
            </a:r>
            <a:br/>
            <a:r>
              <a:t>full body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292608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400">
                <a:solidFill>
                  <a:srgbClr val="374151"/>
                </a:solidFill>
                <a:latin typeface="Arial"/>
              </a:defRPr>
            </a:pPr>
            <a:r>
              <a:t>• Can perceive world</a:t>
            </a:r>
            <a:br/>
            <a:r>
              <a:t>• Can use tools</a:t>
            </a:r>
            <a:br/>
            <a:r>
              <a:t>• Can act autonomously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5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51B2B"/>
                </a:solidFill>
                <a:latin typeface="Arial"/>
              </a:defRPr>
            </a:pPr>
            <a:r>
              <a:t>2. Core Characteristics of AI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74151"/>
                </a:solidFill>
                <a:latin typeface="Arial"/>
              </a:defRPr>
            </a:pPr>
            <a:r>
              <a:t>●  Autonomy: Can make decisions independently without continuous human intervention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74151"/>
                </a:solidFill>
                <a:latin typeface="Arial"/>
              </a:defRPr>
            </a:pPr>
            <a:r>
              <a:t>●  Reactivity: Can perceive environmental changes and respond promptly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74151"/>
                </a:solidFill>
                <a:latin typeface="Arial"/>
              </a:defRPr>
            </a:pPr>
            <a:r>
              <a:t>●  Proactivity: Can take initiative to achieve goals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74151"/>
                </a:solidFill>
                <a:latin typeface="Arial"/>
              </a:defRPr>
            </a:pPr>
            <a:r>
              <a:t>●  Social Ability: Can interact and collaborate with other agents or humans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74151"/>
                </a:solidFill>
                <a:latin typeface="Arial"/>
              </a:defRPr>
            </a:pPr>
            <a:r>
              <a:t>●  Difference from RPA: AI Agent can dynamically adjust and learn from experience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AI Agent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2743200" cy="3200400"/>
          </a:xfrm>
          <a:prstGeom prst="round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Perception</a:t>
            </a:r>
            <a:br/>
            <a:r>
              <a:t>Module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23774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400">
                <a:solidFill>
                  <a:srgbClr val="FFFFFF"/>
                </a:solidFill>
                <a:latin typeface="Arial"/>
              </a:defRPr>
            </a:pPr>
            <a:r>
              <a:t>• Collect environment info</a:t>
            </a:r>
          </a:p>
          <a:p>
            <a:pPr>
              <a:spcBef>
                <a:spcPts val="800"/>
              </a:spcBef>
              <a:defRPr sz="1400">
                <a:solidFill>
                  <a:srgbClr val="FFFFFF"/>
                </a:solidFill>
                <a:latin typeface="Arial"/>
              </a:defRPr>
            </a:pPr>
            <a:r>
              <a:t>• Natural language understanding</a:t>
            </a:r>
          </a:p>
          <a:p>
            <a:pPr>
              <a:spcBef>
                <a:spcPts val="800"/>
              </a:spcBef>
              <a:defRPr sz="1400">
                <a:solidFill>
                  <a:srgbClr val="FFFFFF"/>
                </a:solidFill>
                <a:latin typeface="Arial"/>
              </a:defRPr>
            </a:pPr>
            <a:r>
              <a:t>• Multi-modal input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1828800"/>
            <a:ext cx="2743200" cy="32004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201168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Brain / Control</a:t>
            </a:r>
            <a:br/>
            <a:r>
              <a:t>(LLM)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2743200"/>
            <a:ext cx="23774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400">
                <a:solidFill>
                  <a:srgbClr val="FFFFFF"/>
                </a:solidFill>
                <a:latin typeface="Arial"/>
              </a:defRPr>
            </a:pPr>
            <a:r>
              <a:t>• Reasoning &amp; decision</a:t>
            </a:r>
          </a:p>
          <a:p>
            <a:pPr>
              <a:spcBef>
                <a:spcPts val="800"/>
              </a:spcBef>
              <a:defRPr sz="1400">
                <a:solidFill>
                  <a:srgbClr val="FFFFFF"/>
                </a:solidFill>
                <a:latin typeface="Arial"/>
              </a:defRPr>
            </a:pPr>
            <a:r>
              <a:t>• Task planning</a:t>
            </a:r>
          </a:p>
          <a:p>
            <a:pPr>
              <a:spcBef>
                <a:spcPts val="800"/>
              </a:spcBef>
              <a:defRPr sz="1400">
                <a:solidFill>
                  <a:srgbClr val="FFFFFF"/>
                </a:solidFill>
                <a:latin typeface="Arial"/>
              </a:defRPr>
            </a:pPr>
            <a:r>
              <a:t>• Reflection &amp; improvement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95360" y="1828800"/>
            <a:ext cx="2743200" cy="32004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0" y="201168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Action</a:t>
            </a:r>
            <a:br/>
            <a:r>
              <a:t>Module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2743200"/>
            <a:ext cx="23774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400">
                <a:solidFill>
                  <a:srgbClr val="FFFFFF"/>
                </a:solidFill>
                <a:latin typeface="Arial"/>
              </a:defRPr>
            </a:pPr>
            <a:r>
              <a:t>• Call tools</a:t>
            </a:r>
          </a:p>
          <a:p>
            <a:pPr>
              <a:spcBef>
                <a:spcPts val="800"/>
              </a:spcBef>
              <a:defRPr sz="1400">
                <a:solidFill>
                  <a:srgbClr val="FFFFFF"/>
                </a:solidFill>
                <a:latin typeface="Arial"/>
              </a:defRPr>
            </a:pPr>
            <a:r>
              <a:t>• Execute operations</a:t>
            </a:r>
          </a:p>
          <a:p>
            <a:pPr>
              <a:spcBef>
                <a:spcPts val="800"/>
              </a:spcBef>
              <a:defRPr sz="1400">
                <a:solidFill>
                  <a:srgbClr val="FFFFFF"/>
                </a:solidFill>
                <a:latin typeface="Arial"/>
              </a:defRPr>
            </a:pPr>
            <a:r>
              <a:t>• Environment interaction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0" y="3200400"/>
            <a:ext cx="1097280" cy="508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98079" y="3200400"/>
            <a:ext cx="1097280" cy="508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754880" y="5303520"/>
            <a:ext cx="2743200" cy="109728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0" y="548640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Memory Module</a:t>
            </a:r>
            <a:br/>
            <a:r>
              <a:t>Short-term + Long-term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5029200"/>
            <a:ext cx="50800" cy="2743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5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51B2B"/>
                </a:solidFill>
                <a:latin typeface="Arial"/>
              </a:defRPr>
            </a:pPr>
            <a:r>
              <a:t>3.1 Brain Module (LLM)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74151"/>
                </a:solidFill>
                <a:latin typeface="Arial"/>
              </a:defRPr>
            </a:pPr>
            <a:r>
              <a:t>●  Core component: Large Language Models (GPT-4, Claude, Llama, Qwen, etc.)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74151"/>
                </a:solidFill>
                <a:latin typeface="Arial"/>
              </a:defRPr>
            </a:pPr>
            <a:r>
              <a:t>●  Reasoning &amp; Decision: Analyze problems, formulate strategies, select optimal solutions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74151"/>
                </a:solidFill>
                <a:latin typeface="Arial"/>
              </a:defRPr>
            </a:pPr>
            <a:r>
              <a:t>●  Planning: Break down complex tasks into executable subtasks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74151"/>
                </a:solidFill>
                <a:latin typeface="Arial"/>
              </a:defRPr>
            </a:pPr>
            <a:r>
              <a:t>●  Reflection &amp; Improvement: Learn from mistakes and optimize future actions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74151"/>
                </a:solidFill>
                <a:latin typeface="Arial"/>
              </a:defRPr>
            </a:pPr>
            <a:r>
              <a:t>●  Natural Language Interaction: Understand instructions, generate responses, communicate with users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5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51B2B"/>
                </a:solidFill>
                <a:latin typeface="Arial"/>
              </a:defRPr>
            </a:pPr>
            <a:r>
              <a:t>3.2 Perception &amp; Action Module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74151"/>
                </a:solidFill>
                <a:latin typeface="Arial"/>
              </a:defRPr>
            </a:pPr>
            <a:r>
              <a:t>●  Perception Module: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74151"/>
                </a:solidFill>
                <a:latin typeface="Arial"/>
              </a:defRPr>
            </a:pPr>
            <a:r>
              <a:t>●     • Collect and process environment information: text, image, audio, structured data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74151"/>
                </a:solidFill>
                <a:latin typeface="Arial"/>
              </a:defRPr>
            </a:pPr>
            <a:r>
              <a:t>●     • Natural language understanding, computer vision, sensor data processing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74151"/>
                </a:solidFill>
                <a:latin typeface="Arial"/>
              </a:defRPr>
            </a:pPr>
            <a:r>
              <a:t>●  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74151"/>
                </a:solidFill>
                <a:latin typeface="Arial"/>
              </a:defRPr>
            </a:pPr>
            <a:r>
              <a:t>●  Action Module: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74151"/>
                </a:solidFill>
                <a:latin typeface="Arial"/>
              </a:defRPr>
            </a:pPr>
            <a:r>
              <a:t>●     • Execute decisions, interact with environment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74151"/>
                </a:solidFill>
                <a:latin typeface="Arial"/>
              </a:defRPr>
            </a:pPr>
            <a:r>
              <a:t>●     • Tool use: search engine, API calls, code execution, file operations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74151"/>
                </a:solidFill>
                <a:latin typeface="Arial"/>
              </a:defRPr>
            </a:pPr>
            <a:r>
              <a:t>●     • Output: text response, operation execution, status update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5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51B2B"/>
                </a:solidFill>
                <a:latin typeface="Arial"/>
              </a:defRPr>
            </a:pPr>
            <a:r>
              <a:t>3.3 Memory Module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74151"/>
                </a:solidFill>
                <a:latin typeface="Arial"/>
              </a:defRPr>
            </a:pPr>
            <a:r>
              <a:t>●  Short-term Memory: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74151"/>
                </a:solidFill>
                <a:latin typeface="Arial"/>
              </a:defRPr>
            </a:pPr>
            <a:r>
              <a:t>●     • Current conversation context, task execution status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74151"/>
                </a:solidFill>
                <a:latin typeface="Arial"/>
              </a:defRPr>
            </a:pPr>
            <a:r>
              <a:t>●     • Temporary working memory, cleared after session ends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74151"/>
                </a:solidFill>
                <a:latin typeface="Arial"/>
              </a:defRPr>
            </a:pPr>
            <a:r>
              <a:t>●  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74151"/>
                </a:solidFill>
                <a:latin typeface="Arial"/>
              </a:defRPr>
            </a:pPr>
            <a:r>
              <a:t>●  Long-term Memory: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74151"/>
                </a:solidFill>
                <a:latin typeface="Arial"/>
              </a:defRPr>
            </a:pPr>
            <a:r>
              <a:t>●     • User preferences and historical interaction records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74151"/>
                </a:solidFill>
                <a:latin typeface="Arial"/>
              </a:defRPr>
            </a:pPr>
            <a:r>
              <a:t>●     • Knowledge base and experience accumulation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74151"/>
                </a:solidFill>
                <a:latin typeface="Arial"/>
              </a:defRPr>
            </a:pPr>
            <a:r>
              <a:t>●     • Usually stored in vector databases for fast retrieval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51B2B"/>
                </a:solidFill>
                <a:latin typeface="Arial"/>
              </a:defRPr>
            </a:pPr>
            <a:r>
              <a:t>AI Agent Working Loop: Perceive-Think-Act</a:t>
            </a:r>
          </a:p>
        </p:txBody>
      </p:sp>
      <p:sp>
        <p:nvSpPr>
          <p:cNvPr id="4" name="Oval 3"/>
          <p:cNvSpPr/>
          <p:nvPr/>
        </p:nvSpPr>
        <p:spPr>
          <a:xfrm>
            <a:off x="1188720" y="1371600"/>
            <a:ext cx="1371600" cy="137160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83464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60A5FA"/>
                </a:solidFill>
                <a:latin typeface="Arial"/>
              </a:defRPr>
            </a:pPr>
            <a:r>
              <a:t>Perceive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0" y="1920240"/>
            <a:ext cx="1188720" cy="7620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931920" y="1371600"/>
            <a:ext cx="1371600" cy="13716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0" y="283464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3B82F6"/>
                </a:solidFill>
                <a:latin typeface="Arial"/>
              </a:defRPr>
            </a:pPr>
            <a:r>
              <a:t>Think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0" y="1920240"/>
            <a:ext cx="1188720" cy="7620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675120" y="1371600"/>
            <a:ext cx="1371600" cy="13716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283464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  <a:latin typeface="Arial"/>
              </a:defRPr>
            </a:pPr>
            <a:r>
              <a:t>Act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1920240"/>
            <a:ext cx="1188720" cy="7620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418320" y="1371600"/>
            <a:ext cx="1371600" cy="137160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0" y="283464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EC4899"/>
                </a:solidFill>
                <a:latin typeface="Arial"/>
              </a:defRPr>
            </a:pPr>
            <a:r>
              <a:t>Feedback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657600"/>
            <a:ext cx="2560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0A5FA"/>
                </a:solidFill>
                <a:latin typeface="Arial"/>
              </a:defRPr>
            </a:pPr>
            <a:r>
              <a:t>• Receive user input</a:t>
            </a:r>
            <a:br/>
            <a:r>
              <a:t>• Collect environment info</a:t>
            </a:r>
            <a:br/>
            <a:r>
              <a:t>• Multi-modal processing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657600"/>
            <a:ext cx="2560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B82F6"/>
                </a:solidFill>
                <a:latin typeface="Arial"/>
              </a:defRPr>
            </a:pPr>
            <a:r>
              <a:t>• Analyze problem</a:t>
            </a:r>
            <a:br/>
            <a:r>
              <a:t>• Make plan</a:t>
            </a:r>
            <a:br/>
            <a:r>
              <a:t>• Decompose tasks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3657600"/>
            <a:ext cx="2560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0B981"/>
                </a:solidFill>
                <a:latin typeface="Arial"/>
              </a:defRPr>
            </a:pPr>
            <a:r>
              <a:t>• Call tools</a:t>
            </a:r>
            <a:br/>
            <a:r>
              <a:t>• Execute operations</a:t>
            </a:r>
            <a:br/>
            <a:r>
              <a:t>• Interact with environment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3657600"/>
            <a:ext cx="2560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EC4899"/>
                </a:solidFill>
                <a:latin typeface="Arial"/>
              </a:defRPr>
            </a:pPr>
            <a:r>
              <a:t>• Observe results</a:t>
            </a:r>
            <a:br/>
            <a:r>
              <a:t>• Learn &amp; improve</a:t>
            </a:r>
            <a:br/>
            <a:r>
              <a:t>• Iterate optimization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5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51B2B"/>
                </a:solidFill>
                <a:latin typeface="Arial"/>
              </a:defRPr>
            </a:pPr>
            <a:r>
              <a:t>4. ReAct Pattern: Reasoning + Acting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74151"/>
                </a:solidFill>
                <a:latin typeface="Arial"/>
              </a:defRPr>
            </a:pPr>
            <a:r>
              <a:t>●  ReAct = Reasoning + Acting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74151"/>
                </a:solidFill>
                <a:latin typeface="Arial"/>
              </a:defRPr>
            </a:pPr>
            <a:r>
              <a:t>●  Working loop: Thought → Action → Observation → Thought → ...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74151"/>
                </a:solidFill>
                <a:latin typeface="Arial"/>
              </a:defRPr>
            </a:pPr>
            <a:r>
              <a:t>●  Enable AI Agent to "think step by step" like humans, improving complex problem-solving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74151"/>
                </a:solidFill>
                <a:latin typeface="Arial"/>
              </a:defRPr>
            </a:pPr>
            <a:r>
              <a:t>●  Example: Query weather → Search info → Analyze results → Give advice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74151"/>
                </a:solidFill>
                <a:latin typeface="Arial"/>
              </a:defRPr>
            </a:pPr>
            <a:r>
              <a:t>●  Core advantages: Iterative reasoning, self-correction, dynamic strategy adjustment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51B2B"/>
                </a:solidFill>
                <a:latin typeface="Arial"/>
              </a:defRPr>
            </a:pPr>
            <a:r>
              <a:t>5. AI Agent vs LLM vs RAG Comparison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280160"/>
          <a:ext cx="109728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558800"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Capability</a:t>
                      </a:r>
                    </a:p>
                  </a:txBody>
                  <a:tcPr anchor="ctr"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LLM</a:t>
                      </a:r>
                    </a:p>
                  </a:txBody>
                  <a:tcPr anchor="ctr"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RAG</a:t>
                      </a:r>
                    </a:p>
                  </a:txBody>
                  <a:tcPr anchor="ctr"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AI Agent</a:t>
                      </a:r>
                    </a:p>
                  </a:txBody>
                  <a:tcPr anchor="ctr">
                    <a:solidFill>
                      <a:srgbClr val="3B82F6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400">
                          <a:latin typeface="Arial"/>
                        </a:defRPr>
                      </a:pPr>
                      <a:r>
                        <a:t>Text Generation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Arial"/>
                        </a:defRPr>
                      </a:pPr>
                      <a:r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Arial"/>
                        </a:defRPr>
                      </a:pPr>
                      <a:r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Arial"/>
                        </a:defRPr>
                      </a:pPr>
                      <a:r>
                        <a:t>✅</a:t>
                      </a:r>
                    </a:p>
                  </a:txBody>
                  <a:tcPr anchor="ctr"/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400">
                          <a:latin typeface="Arial"/>
                        </a:defRPr>
                      </a:pPr>
                      <a:r>
                        <a:t>Access External Docs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Arial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Arial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Arial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400">
                          <a:latin typeface="Arial"/>
                        </a:defRPr>
                      </a:pPr>
                      <a:r>
                        <a:t>Execute Code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Arial"/>
                        </a:defRPr>
                      </a:pPr>
                      <a:r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Arial"/>
                        </a:defRPr>
                      </a:pPr>
                      <a:r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Arial"/>
                        </a:defRPr>
                      </a:pPr>
                      <a:r>
                        <a:t>✅</a:t>
                      </a:r>
                    </a:p>
                  </a:txBody>
                  <a:tcPr anchor="ctr"/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400">
                          <a:latin typeface="Arial"/>
                        </a:defRPr>
                      </a:pPr>
                      <a:r>
                        <a:t>Call API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Arial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Arial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Arial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400">
                          <a:latin typeface="Arial"/>
                        </a:defRPr>
                      </a:pPr>
                      <a:r>
                        <a:t>Iterative Reasoning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Arial"/>
                        </a:defRPr>
                      </a:pPr>
                      <a:r>
                        <a:t>Limited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Arial"/>
                        </a:defRPr>
                      </a:pPr>
                      <a:r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Arial"/>
                        </a:defRPr>
                      </a:pPr>
                      <a:r>
                        <a:t>✅</a:t>
                      </a:r>
                    </a:p>
                  </a:txBody>
                  <a:tcPr anchor="ctr"/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400">
                          <a:latin typeface="Arial"/>
                        </a:defRPr>
                      </a:pPr>
                      <a:r>
                        <a:t>Self-correction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Arial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Arial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Arial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400">
                          <a:latin typeface="Arial"/>
                        </a:defRPr>
                      </a:pPr>
                      <a:r>
                        <a:t>Multi-step Planning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Arial"/>
                        </a:defRPr>
                      </a:pPr>
                      <a:r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Arial"/>
                        </a:defRPr>
                      </a:pPr>
                      <a:r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Arial"/>
                        </a:defRPr>
                      </a:pPr>
                      <a:r>
                        <a:t>✅</a:t>
                      </a:r>
                    </a:p>
                  </a:txBody>
                  <a:tcPr anchor="ctr"/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400">
                          <a:latin typeface="Arial"/>
                        </a:defRPr>
                      </a:pPr>
                      <a:r>
                        <a:t>Autonomous Operation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Arial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Arial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Arial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5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51B2B"/>
                </a:solidFill>
                <a:latin typeface="Arial"/>
              </a:defRPr>
            </a:pPr>
            <a:r>
              <a:t>6. Typical Application Scenarios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74151"/>
                </a:solidFill>
                <a:latin typeface="Arial"/>
              </a:defRPr>
            </a:pPr>
            <a:r>
              <a:t>●  Intelligent Customer Service: Understand questions, query knowledge base, execute operations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74151"/>
                </a:solidFill>
                <a:latin typeface="Arial"/>
              </a:defRPr>
            </a:pPr>
            <a:r>
              <a:t>●  Coding Assistant (Cursor, Devin): Write, debug, test code autonomously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74151"/>
                </a:solidFill>
                <a:latin typeface="Arial"/>
              </a:defRPr>
            </a:pPr>
            <a:r>
              <a:t>●  Research Assistant: Autonomous search, analyze papers, generate reports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74151"/>
                </a:solidFill>
                <a:latin typeface="Arial"/>
              </a:defRPr>
            </a:pPr>
            <a:r>
              <a:t>●  Personal Assistant: Schedule management, email processing, travel planning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74151"/>
                </a:solidFill>
                <a:latin typeface="Arial"/>
              </a:defRPr>
            </a:pPr>
            <a:r>
              <a:t>●  Data Analysis Agent: Automatically process data, generate visualizations, provide insights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5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51B2B"/>
                </a:solidFill>
                <a:latin typeface="Arial"/>
              </a:defRPr>
            </a:pPr>
            <a:r>
              <a:t>7. AI Agent Technology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74151"/>
                </a:solidFill>
                <a:latin typeface="Arial"/>
              </a:defRPr>
            </a:pPr>
            <a:r>
              <a:t>●  Model Layer: GPT-4, Claude, Llama, Qwen and other LLMs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74151"/>
                </a:solidFill>
                <a:latin typeface="Arial"/>
              </a:defRPr>
            </a:pPr>
            <a:r>
              <a:t>●  Frameworks: LangChain (modular), AutoGen (multi-agent), CrewAI (role-playing)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74151"/>
                </a:solidFill>
                <a:latin typeface="Arial"/>
              </a:defRPr>
            </a:pPr>
            <a:r>
              <a:t>●  Memory Storage: Vector databases (Chroma, Pinecone), Knowledge graphs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74151"/>
                </a:solidFill>
                <a:latin typeface="Arial"/>
              </a:defRPr>
            </a:pPr>
            <a:r>
              <a:t>●  Tool Integration: Search engines, API gateways, code execution, browser automation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74151"/>
                </a:solidFill>
                <a:latin typeface="Arial"/>
              </a:defRPr>
            </a:pPr>
            <a:r>
              <a:t>●  Infrastructure: Cloud servers, container deployment, monitoring and logging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5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51B2B"/>
                </a:solidFill>
                <a:latin typeface="Arial"/>
              </a:defRPr>
            </a:pPr>
            <a:r>
              <a:t>8. Trends and Outlook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74151"/>
                </a:solidFill>
                <a:latin typeface="Arial"/>
              </a:defRPr>
            </a:pPr>
            <a:r>
              <a:t>●  From Single Agent to Multi-Agent Collaboration: Multiple specialized agents form teams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74151"/>
                </a:solidFill>
                <a:latin typeface="Arial"/>
              </a:defRPr>
            </a:pPr>
            <a:r>
              <a:t>●  From Tool Use to Deep Integration: MCP (Model Context Protocol) standardization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74151"/>
                </a:solidFill>
                <a:latin typeface="Arial"/>
              </a:defRPr>
            </a:pPr>
            <a:r>
              <a:t>●  From General to Vertical Domains: Legal, medical, financial specialized agents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74151"/>
                </a:solidFill>
                <a:latin typeface="Arial"/>
              </a:defRPr>
            </a:pPr>
            <a:r>
              <a:t>●  From Cloud to Edge Deployment: Lightweight models support local execution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74151"/>
                </a:solidFill>
                <a:latin typeface="Arial"/>
              </a:defRPr>
            </a:pPr>
            <a:r>
              <a:t>●  Future Vision: General Digital Employee → Physical World Robot → AGI Prototype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5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51B2B"/>
                </a:solidFill>
                <a:latin typeface="Arial"/>
              </a:defRPr>
            </a:pPr>
            <a:r>
              <a:t>📌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74151"/>
                </a:solidFill>
                <a:latin typeface="Arial"/>
              </a:defRPr>
            </a:pPr>
            <a:r>
              <a:t>●  AI Agent essence: LLM + Memory + Planning + Tool Use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74151"/>
                </a:solidFill>
                <a:latin typeface="Arial"/>
              </a:defRPr>
            </a:pPr>
            <a:r>
              <a:t>●  Core characteristics: Autonomy, Reactivity, Proactivity, Social Ability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74151"/>
                </a:solidFill>
                <a:latin typeface="Arial"/>
              </a:defRPr>
            </a:pPr>
            <a:r>
              <a:t>●  Architecture: Perception → Brain (LLM) → Action + Memory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74151"/>
                </a:solidFill>
                <a:latin typeface="Arial"/>
              </a:defRPr>
            </a:pPr>
            <a:r>
              <a:t>●  Working loop: Perceive → Think → Act → Feedback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74151"/>
                </a:solidFill>
                <a:latin typeface="Arial"/>
              </a:defRPr>
            </a:pPr>
            <a:r>
              <a:t>●  Key difference: Agent can think AND act, not just answer questions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286000"/>
            <a:ext cx="121916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840480"/>
            <a:ext cx="121916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0A5FA"/>
                </a:solidFill>
                <a:latin typeface="Arial"/>
              </a:defRPr>
            </a:pPr>
            <a:r>
              <a:t>Next: Prompt Chaining (提示链)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