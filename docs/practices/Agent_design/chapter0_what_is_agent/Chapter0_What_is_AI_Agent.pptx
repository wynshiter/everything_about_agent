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92608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什么是 AI Agent？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0A5FA"/>
                </a:solidFill>
                <a:latin typeface="Microsoft YaHei"/>
              </a:defRPr>
            </a:pPr>
            <a:r>
              <a:t>人工智能代理基础概念与架构解析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🎯 本章学习目标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理解 AI Agent 的核心定义与本质特征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掌握 AI Agent 与 LLM、RAG 的区别与联系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了解 AI Agent 的核心架构组成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理解 AI Agent 的工作循环与决策流程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认识 AI Agent 的典型应用场景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1. 什么是 AI Agent？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AI Agent（人工智能代理）是能够自主感知环境、制定决策并执行行动的智能系统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核心特点：自主性（Autonomous）、主动性（Proactive）、目标导向（Goal-oriented）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与传统 AI 的区别：不只是问答，而是能够主动思考、规划并完成复杂任务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权威定义：Agent = LLM + 记忆能力 + 规划能力 + 工具使用能力（OpenAI）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简单类比：如果传统 AI 是"问答机器"，AI Agent 就是"智能助手/数字员工"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51B2B"/>
                </a:solidFill>
                <a:latin typeface="Microsoft YaHei"/>
              </a:defRPr>
            </a:pPr>
            <a:r>
              <a:t>AI Agent vs LLM vs RAG：一个形象的比喻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475488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7315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LLM</a:t>
            </a:r>
            <a:br/>
            <a:r>
              <a:t>大语言模型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Microsoft YaHei"/>
              </a:defRPr>
            </a:pPr>
            <a:r>
              <a:t>聪明的大脑被困在</a:t>
            </a:r>
            <a:br/>
            <a:r>
              <a:t>玻璃罐里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374151"/>
                </a:solidFill>
                <a:latin typeface="Microsoft YaHei"/>
              </a:defRPr>
            </a:pPr>
            <a:r>
              <a:t>• 知识渊博</a:t>
            </a:r>
            <a:br/>
            <a:r>
              <a:t>• 无法感知外部世界</a:t>
            </a:r>
            <a:br/>
            <a:r>
              <a:t>• 不能执行操作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371600"/>
            <a:ext cx="3474720" cy="47548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474720" cy="731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RAG</a:t>
            </a:r>
            <a:br/>
            <a:r>
              <a:t>检索增强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D97706"/>
                </a:solidFill>
                <a:latin typeface="Microsoft YaHei"/>
              </a:defRPr>
            </a:pPr>
            <a:r>
              <a:t>大脑+图书管理员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374151"/>
                </a:solidFill>
                <a:latin typeface="Microsoft YaHei"/>
              </a:defRPr>
            </a:pPr>
            <a:r>
              <a:t>• 能获取外部知识</a:t>
            </a:r>
            <a:br/>
            <a:r>
              <a:t>• 信息更准确</a:t>
            </a:r>
            <a:br/>
            <a:r>
              <a:t>• 仍不能采取行动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371600"/>
            <a:ext cx="3474720" cy="475488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371600"/>
            <a:ext cx="3474720" cy="7315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146304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 Agent</a:t>
            </a:r>
            <a:br/>
            <a:r>
              <a:t>智能代理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28600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Microsoft YaHei"/>
              </a:defRPr>
            </a:pPr>
            <a:r>
              <a:t>大脑有了完整身体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9260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374151"/>
                </a:solidFill>
                <a:latin typeface="Microsoft YaHei"/>
              </a:defRPr>
            </a:pPr>
            <a:r>
              <a:t>• 能感知世界</a:t>
            </a:r>
            <a:br/>
            <a:r>
              <a:t>• 能使用工具</a:t>
            </a:r>
            <a:br/>
            <a:r>
              <a:t>• 能自主决策行动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2. AI Agent 的核心特征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自主性（Autonomy）：能够独立做出决策，无需人类持续干预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反应性（Reactivity）：能够感知环境变化并及时响应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主动性（Proactivity）：能够主动采取行动实现目标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社交性（Social Ability）：能够与其他 Agent 或人类进行交互协作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与传统 RPA 的区别：AI Agent 能够动态调整、从经验中学习改进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 Agent 架构组成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743200" cy="32004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感知模块</a:t>
            </a:r>
            <a:br/>
            <a:r>
              <a:t>Perception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收集环境信息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自然语言理解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多模态输入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828800"/>
            <a:ext cx="2743200" cy="3200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大脑/控制端</a:t>
            </a:r>
            <a:br/>
            <a:r>
              <a:t>Brain /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7432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推理与决策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任务规划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反思与改进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828800"/>
            <a:ext cx="2743200" cy="32004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201168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行动模块</a:t>
            </a:r>
            <a:br/>
            <a: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2743200"/>
            <a:ext cx="2377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调用工具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执行操作</a:t>
            </a:r>
          </a:p>
          <a:p>
            <a:pPr>
              <a:spcBef>
                <a:spcPts val="800"/>
              </a:spcBef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• 环境交互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3200400"/>
            <a:ext cx="1097280" cy="50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3200400"/>
            <a:ext cx="1097280" cy="508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5303520"/>
            <a:ext cx="2743200" cy="10972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54864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记忆模块 Memory</a:t>
            </a:r>
            <a:br/>
            <a:r>
              <a:t>短期记忆 + 长期记忆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5029200"/>
            <a:ext cx="50800" cy="2743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3.1 大脑模块（Brain / LLM）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核心组件：大语言模型（GPT-4、Claude、Llama、Qwen 等）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推理与决策：分析问题、制定策略、选择最优方案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规划能力：将复杂任务分解为可执行的子任务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反思与改进：从错误中学习，优化后续行动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自然语言交互：理解指令、生成回复、与用户沟通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3.2 感知模块 &amp; 行动模块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感知模块（Perception）：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收集和处理环境信息：文本、图像、音频、结构化数据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自然语言理解、计算机视觉、传感器数据处理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行动模块（Action）：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执行决策、与环境交互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工具使用：搜索引擎、API调用、代码执行、文件操作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输出：文本回复、操作执行、状态更新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3.3 记忆模块（Memory）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短期记忆（Short-term Memory）：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当前对话上下文、任务执行状态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临时工作记忆，会话结束后清除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长期记忆（Long-term Memory）：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用户偏好与历史交互记录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知识库与经验积累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   • 通常使用向量数据库存储，支持快速检索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51B2B"/>
                </a:solidFill>
                <a:latin typeface="Microsoft YaHei"/>
              </a:defRPr>
            </a:pPr>
            <a:r>
              <a:t>AI Agent 工作循环：感知-思考-行动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371600"/>
            <a:ext cx="1371600" cy="13716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0A5FA"/>
                </a:solidFill>
                <a:latin typeface="Microsoft YaHei"/>
              </a:defRPr>
            </a:pPr>
            <a:r>
              <a:t>感知</a:t>
            </a:r>
            <a:br/>
            <a:r>
              <a:t>Perceive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920240"/>
            <a:ext cx="1188720" cy="76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931920" y="1371600"/>
            <a:ext cx="1371600" cy="1371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Microsoft YaHei"/>
              </a:defRPr>
            </a:pPr>
            <a:r>
              <a:t>思考</a:t>
            </a:r>
            <a:br/>
            <a:r>
              <a:t>Think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920240"/>
            <a:ext cx="1188720" cy="76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75120" y="1371600"/>
            <a:ext cx="1371600" cy="1371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行动</a:t>
            </a:r>
            <a:br/>
            <a:r>
              <a:t>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920240"/>
            <a:ext cx="1188720" cy="762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0" y="1371600"/>
            <a:ext cx="1371600" cy="13716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0" y="283464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EC4899"/>
                </a:solidFill>
                <a:latin typeface="Microsoft YaHei"/>
              </a:defRPr>
            </a:pPr>
            <a:r>
              <a:t>反馈</a:t>
            </a:r>
            <a:br/>
            <a:r>
              <a:t>Feedback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0A5FA"/>
                </a:solidFill>
                <a:latin typeface="Microsoft YaHei"/>
              </a:defRPr>
            </a:pPr>
            <a:r>
              <a:t>• 接收用户指令</a:t>
            </a:r>
            <a:br/>
            <a:r>
              <a:t>• 收集环境信息</a:t>
            </a:r>
            <a:br/>
            <a:r>
              <a:t>• 多模态输入处理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B82F6"/>
                </a:solidFill>
                <a:latin typeface="Microsoft YaHei"/>
              </a:defRPr>
            </a:pPr>
            <a:r>
              <a:t>• 分析问题</a:t>
            </a:r>
            <a:br/>
            <a:r>
              <a:t>• 制定计划</a:t>
            </a:r>
            <a:br/>
            <a:r>
              <a:t>• 分解任务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0B981"/>
                </a:solidFill>
                <a:latin typeface="Microsoft YaHei"/>
              </a:defRPr>
            </a:pPr>
            <a:r>
              <a:t>• 调用工具</a:t>
            </a:r>
            <a:br/>
            <a:r>
              <a:t>• 执行操作</a:t>
            </a:r>
            <a:br/>
            <a:r>
              <a:t>• 与环境交互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657600"/>
            <a:ext cx="2560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C4899"/>
                </a:solidFill>
                <a:latin typeface="Microsoft YaHei"/>
              </a:defRPr>
            </a:pPr>
            <a:r>
              <a:t>• 观察结果</a:t>
            </a:r>
            <a:br/>
            <a:r>
              <a:t>• 学习改进</a:t>
            </a:r>
            <a:br/>
            <a:r>
              <a:t>• 循环优化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4. ReAct 模式：推理与行动的融合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ReAct = Reasoning（推理）+ Acting（行动）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工作循环：Thought → Action → Observation → Thought → ...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让 AI Agent 像人类一样"一步步思考"，提高复杂问题解决能力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示例：查询天气 → 搜索信息 → 分析结果 → 给出建议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核心优势：能够迭代推理、自我纠错、动态调整策略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5. AI Agent vs LLM vs RAG 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LLM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RAG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600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AI Agent</a:t>
                      </a:r>
                    </a:p>
                  </a:txBody>
                  <a:tcPr anchor="ctr">
                    <a:solidFill>
                      <a:srgbClr val="3B82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Microsoft YaHei"/>
                        </a:defRPr>
                      </a:pPr>
                      <a:r>
                        <a:t>文本生成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Microsoft YaHei"/>
                        </a:defRPr>
                      </a:pPr>
                      <a:r>
                        <a:t>访问外部文档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Microsoft YaHei"/>
                        </a:defRPr>
                      </a:pPr>
                      <a:r>
                        <a:t>执行代码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Microsoft YaHei"/>
                        </a:defRPr>
                      </a:pPr>
                      <a:r>
                        <a:t>调用 API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Microsoft YaHei"/>
                        </a:defRPr>
                      </a:pPr>
                      <a:r>
                        <a:t>迭代推理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有限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Microsoft YaHei"/>
                        </a:defRPr>
                      </a:pPr>
                      <a:r>
                        <a:t>自我纠错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Microsoft YaHei"/>
                        </a:defRPr>
                      </a:pPr>
                      <a:r>
                        <a:t>多步规划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/>
                </a:tc>
              </a:tr>
              <a:tr h="558800">
                <a:tc>
                  <a:txBody>
                    <a:bodyPr/>
                    <a:lstStyle/>
                    <a:p>
                      <a:pPr algn="l">
                        <a:defRPr sz="1400">
                          <a:latin typeface="Microsoft YaHei"/>
                        </a:defRPr>
                      </a:pPr>
                      <a:r>
                        <a:t>自主运行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6. AI Agent 的典型应用场景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智能客服 Agent：理解问题、查询知识库、执行操作、转接人工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编程助手 Agent（如 Cursor、Devin）：编写、调试、测试代码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研究助手 Agent：自主搜索、分析论文、生成报告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个人助理 Agent：日程管理、邮件处理、旅行规划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数据分析 Agent：自动处理数据、生成可视化、提供业务洞察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7. AI Agent 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模型层：GPT-4、Claude、Llama、Qwen 等大语言模型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开发框架：LangChain（模块化）、AutoGen（多Agent）、CrewAI（角色扮演）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记忆存储：向量数据库（Chroma、Pinecone）、知识图谱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工具集成：搜索引擎、API网关、代码执行环境、浏览器自动化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基础设施：云服务器、容器化部署、监控与日志系统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8. 发展趋势与展望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从单 Agent 到多 Agent 协作：多个专业 Agent 组成团队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从工具使用到深度集成：MCP（Model Context Protocol）标准化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从通用到垂直领域：法律、医疗、金融等专业 Agent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从云端到端侧部署：轻量级模型支持本地运行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未来愿景：通用数字员工 → 物理世界机器人 → AGI 雏形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51B2B"/>
                </a:solidFill>
                <a:latin typeface="Microsoft YaHei"/>
              </a:defRPr>
            </a:pPr>
            <a:r>
              <a:t>📌 本章小结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AI Agent 本质：LLM + 记忆 + 规划 + 工具使用能力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核心特征：自主性、反应性、主动性、社交性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架构组成：感知 → 大脑（LLM）→ 行动 + 记忆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工作循环：感知 → 思考 → 行动 → 反馈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74151"/>
                </a:solidFill>
                <a:latin typeface="Microsoft YaHei"/>
              </a:defRPr>
            </a:pPr>
            <a:r>
              <a:t>●  关键区别：Agent 能够 思考并行动，而不仅是回答问题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0A5FA"/>
                </a:solidFill>
                <a:latin typeface="Microsoft YaHei"/>
              </a:defRPr>
            </a:pPr>
            <a:r>
              <a:t>下一章：Prompt Chaining（提示链）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