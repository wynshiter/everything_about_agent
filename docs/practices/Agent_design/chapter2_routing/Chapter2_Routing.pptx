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31"/>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2F3C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0"/>
            <a:ext cx="8229600" cy="731520"/>
          </a:xfrm>
          <a:prstGeom prst="rect">
            <a:avLst/>
          </a:prstGeom>
          <a:noFill/>
        </p:spPr>
        <p:txBody>
          <a:bodyPr wrap="square"/>
          <a:lstStyle/>
          <a:p>
            <a:pPr algn="l">
              <a:spcAft>
                <a:spcPts val="0"/>
              </a:spcAft>
              <a:defRPr sz="2400" b="0">
                <a:solidFill>
                  <a:srgbClr val="ECE2D0"/>
                </a:solidFill>
                <a:latin typeface="Arial" panose="020B0604020202020204"/>
              </a:defRPr>
            </a:pPr>
            <a:r>
              <a:t>Chapter 2</a:t>
            </a:r>
          </a:p>
        </p:txBody>
      </p:sp>
      <p:sp>
        <p:nvSpPr>
          <p:cNvPr id="4" name="TextBox 3"/>
          <p:cNvSpPr txBox="1"/>
          <p:nvPr/>
        </p:nvSpPr>
        <p:spPr>
          <a:xfrm>
            <a:off x="457200" y="2011680"/>
            <a:ext cx="8229600" cy="1097280"/>
          </a:xfrm>
          <a:prstGeom prst="rect">
            <a:avLst/>
          </a:prstGeom>
          <a:noFill/>
        </p:spPr>
        <p:txBody>
          <a:bodyPr wrap="square"/>
          <a:lstStyle/>
          <a:p>
            <a:pPr algn="l">
              <a:spcAft>
                <a:spcPts val="0"/>
              </a:spcAft>
              <a:defRPr sz="4800" b="1">
                <a:solidFill>
                  <a:srgbClr val="FFFFFF"/>
                </a:solidFill>
                <a:latin typeface="Arial Black" panose="020B0A04020102020204"/>
              </a:defRPr>
            </a:pPr>
            <a:r>
              <a:t>Routing</a:t>
            </a:r>
          </a:p>
        </p:txBody>
      </p:sp>
      <p:sp>
        <p:nvSpPr>
          <p:cNvPr id="5" name="TextBox 4"/>
          <p:cNvSpPr txBox="1"/>
          <p:nvPr/>
        </p:nvSpPr>
        <p:spPr>
          <a:xfrm>
            <a:off x="457200" y="3017520"/>
            <a:ext cx="8229600" cy="548640"/>
          </a:xfrm>
          <a:prstGeom prst="rect">
            <a:avLst/>
          </a:prstGeom>
          <a:noFill/>
        </p:spPr>
        <p:txBody>
          <a:bodyPr wrap="square"/>
          <a:lstStyle/>
          <a:p>
            <a:pPr algn="l">
              <a:spcAft>
                <a:spcPts val="0"/>
              </a:spcAft>
              <a:defRPr sz="2000" b="0">
                <a:solidFill>
                  <a:srgbClr val="ECE2D0"/>
                </a:solidFill>
                <a:latin typeface="Arial" panose="020B0604020202020204"/>
              </a:defRPr>
            </a:pPr>
            <a:r>
              <a:t>路由模式设计模式</a:t>
            </a:r>
          </a:p>
        </p:txBody>
      </p:sp>
      <p:sp>
        <p:nvSpPr>
          <p:cNvPr id="6" name="Rectangle 5"/>
          <p:cNvSpPr/>
          <p:nvPr/>
        </p:nvSpPr>
        <p:spPr>
          <a:xfrm>
            <a:off x="457200" y="3840480"/>
            <a:ext cx="1828800" cy="73152"/>
          </a:xfrm>
          <a:prstGeom prst="rect">
            <a:avLst/>
          </a:prstGeom>
          <a:solidFill>
            <a:srgbClr val="ECE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114800"/>
            <a:ext cx="8229600" cy="365760"/>
          </a:xfrm>
          <a:prstGeom prst="rect">
            <a:avLst/>
          </a:prstGeom>
          <a:noFill/>
        </p:spPr>
        <p:txBody>
          <a:bodyPr wrap="square"/>
          <a:lstStyle/>
          <a:p>
            <a:pPr algn="l">
              <a:spcAft>
                <a:spcPts val="0"/>
              </a:spcAft>
              <a:defRPr sz="1200" b="0">
                <a:solidFill>
                  <a:srgbClr val="94A3B8"/>
                </a:solidFill>
                <a:latin typeface="Arial" panose="020B0604020202020204"/>
              </a:defRPr>
            </a:pPr>
            <a:r>
              <a:t>Everything About Agent - Agent 学习与开发系统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C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37160"/>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640080"/>
          </a:xfrm>
          <a:prstGeom prst="rect">
            <a:avLst/>
          </a:prstGeom>
          <a:noFill/>
        </p:spPr>
        <p:txBody>
          <a:bodyPr wrap="square"/>
          <a:lstStyle/>
          <a:p>
            <a:pPr algn="l">
              <a:spcAft>
                <a:spcPts val="0"/>
              </a:spcAft>
              <a:defRPr sz="3200" b="1">
                <a:solidFill>
                  <a:srgbClr val="2F3C7E"/>
                </a:solidFill>
                <a:latin typeface="Arial Black" panose="020B0A04020102020204"/>
              </a:defRPr>
            </a:pPr>
            <a:r>
              <a:t>什么是 Routing?</a:t>
            </a:r>
          </a:p>
        </p:txBody>
      </p:sp>
      <p:sp>
        <p:nvSpPr>
          <p:cNvPr id="5" name="Rectangle 4"/>
          <p:cNvSpPr/>
          <p:nvPr/>
        </p:nvSpPr>
        <p:spPr>
          <a:xfrm>
            <a:off x="457200" y="1005840"/>
            <a:ext cx="1371600" cy="54864"/>
          </a:xfrm>
          <a:prstGeom prst="rect">
            <a:avLst/>
          </a:prstGeom>
          <a:solidFill>
            <a:srgbClr val="99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822960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7863840" cy="914400"/>
          </a:xfrm>
          <a:prstGeom prst="rect">
            <a:avLst/>
          </a:prstGeom>
          <a:noFill/>
        </p:spPr>
        <p:txBody>
          <a:bodyPr wrap="square"/>
          <a:lstStyle/>
          <a:p>
            <a:pPr algn="l">
              <a:spcAft>
                <a:spcPts val="0"/>
              </a:spcAft>
              <a:defRPr sz="1600" b="0">
                <a:solidFill>
                  <a:srgbClr val="475569"/>
                </a:solidFill>
                <a:latin typeface="Arial" panose="020B0604020202020204"/>
              </a:defRPr>
            </a:pPr>
            <a:r>
              <a:t>Routing（路由模式）引入条件逻辑，使 Agent 能够根据特定条件动态选择不同的处理路径。它将固定的执行流程转变为能够根据输入或状态进行智能决策的灵活系统。</a:t>
            </a:r>
          </a:p>
        </p:txBody>
      </p:sp>
      <p:sp>
        <p:nvSpPr>
          <p:cNvPr id="8" name="TextBox 7"/>
          <p:cNvSpPr txBox="1"/>
          <p:nvPr/>
        </p:nvSpPr>
        <p:spPr>
          <a:xfrm>
            <a:off x="457200" y="2834640"/>
            <a:ext cx="8229600" cy="365760"/>
          </a:xfrm>
          <a:prstGeom prst="rect">
            <a:avLst/>
          </a:prstGeom>
          <a:noFill/>
        </p:spPr>
        <p:txBody>
          <a:bodyPr wrap="square"/>
          <a:lstStyle/>
          <a:p>
            <a:pPr algn="l">
              <a:spcAft>
                <a:spcPts val="0"/>
              </a:spcAft>
              <a:defRPr sz="1800" b="1">
                <a:solidFill>
                  <a:srgbClr val="2F3C7E"/>
                </a:solidFill>
                <a:latin typeface="Arial" panose="020B0604020202020204"/>
              </a:defRPr>
            </a:pPr>
            <a:r>
              <a:t>工作流程示意</a:t>
            </a:r>
          </a:p>
        </p:txBody>
      </p:sp>
      <p:sp>
        <p:nvSpPr>
          <p:cNvPr id="9" name="Rounded Rectangle 8"/>
          <p:cNvSpPr/>
          <p:nvPr/>
        </p:nvSpPr>
        <p:spPr>
          <a:xfrm>
            <a:off x="3657600" y="3291840"/>
            <a:ext cx="1828800" cy="731520"/>
          </a:xfrm>
          <a:prstGeom prst="round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3291840"/>
            <a:ext cx="1828800" cy="731520"/>
          </a:xfrm>
          <a:prstGeom prst="rect">
            <a:avLst/>
          </a:prstGeom>
          <a:noFill/>
        </p:spPr>
        <p:txBody>
          <a:bodyPr wrap="square"/>
          <a:lstStyle/>
          <a:p>
            <a:pPr algn="ctr">
              <a:spcAft>
                <a:spcPts val="0"/>
              </a:spcAft>
              <a:defRPr sz="1400" b="1">
                <a:solidFill>
                  <a:srgbClr val="FFFFFF"/>
                </a:solidFill>
                <a:latin typeface="Arial" panose="020B0604020202020204"/>
              </a:defRPr>
            </a:pPr>
            <a:r>
              <a:t>Router</a:t>
            </a:r>
          </a:p>
        </p:txBody>
      </p:sp>
      <p:sp>
        <p:nvSpPr>
          <p:cNvPr id="11" name="Rounded Rectangle 10"/>
          <p:cNvSpPr/>
          <p:nvPr/>
        </p:nvSpPr>
        <p:spPr>
          <a:xfrm>
            <a:off x="457200" y="3383280"/>
            <a:ext cx="1371600" cy="548640"/>
          </a:xfrm>
          <a:prstGeom prst="roundRect">
            <a:avLst/>
          </a:prstGeom>
          <a:solidFill>
            <a:srgbClr val="ECE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383280"/>
            <a:ext cx="1371600" cy="548640"/>
          </a:xfrm>
          <a:prstGeom prst="rect">
            <a:avLst/>
          </a:prstGeom>
          <a:noFill/>
        </p:spPr>
        <p:txBody>
          <a:bodyPr wrap="square"/>
          <a:lstStyle/>
          <a:p>
            <a:pPr algn="ctr">
              <a:spcAft>
                <a:spcPts val="0"/>
              </a:spcAft>
              <a:defRPr sz="1200" b="1">
                <a:solidFill>
                  <a:srgbClr val="2F3C7E"/>
                </a:solidFill>
                <a:latin typeface="Arial" panose="020B0604020202020204"/>
              </a:defRPr>
            </a:pPr>
            <a:r>
              <a:t>用户输入</a:t>
            </a:r>
          </a:p>
        </p:txBody>
      </p:sp>
      <p:sp>
        <p:nvSpPr>
          <p:cNvPr id="13" name="Right Arrow 12"/>
          <p:cNvSpPr/>
          <p:nvPr/>
        </p:nvSpPr>
        <p:spPr>
          <a:xfrm>
            <a:off x="1920240" y="3566160"/>
            <a:ext cx="1554480" cy="22860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0" y="2834640"/>
            <a:ext cx="1645920" cy="457200"/>
          </a:xfrm>
          <a:prstGeom prst="roundRect">
            <a:avLst/>
          </a:prstGeom>
          <a:solidFill>
            <a:srgbClr val="A26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0" y="2834640"/>
            <a:ext cx="1645920" cy="457200"/>
          </a:xfrm>
          <a:prstGeom prst="rect">
            <a:avLst/>
          </a:prstGeom>
          <a:noFill/>
        </p:spPr>
        <p:txBody>
          <a:bodyPr wrap="square"/>
          <a:lstStyle/>
          <a:p>
            <a:pPr algn="ctr">
              <a:spcAft>
                <a:spcPts val="0"/>
              </a:spcAft>
              <a:defRPr sz="1000" b="1">
                <a:solidFill>
                  <a:srgbClr val="FFFFFF"/>
                </a:solidFill>
                <a:latin typeface="Arial" panose="020B0604020202020204"/>
              </a:defRPr>
            </a:pPr>
            <a:r>
              <a:t>Handler A</a:t>
            </a:r>
          </a:p>
        </p:txBody>
      </p:sp>
      <p:sp>
        <p:nvSpPr>
          <p:cNvPr id="16" name="Rounded Rectangle 15"/>
          <p:cNvSpPr/>
          <p:nvPr/>
        </p:nvSpPr>
        <p:spPr>
          <a:xfrm>
            <a:off x="6355080" y="3200400"/>
            <a:ext cx="1645920" cy="457200"/>
          </a:xfrm>
          <a:prstGeom prst="roundRect">
            <a:avLst/>
          </a:prstGeom>
          <a:solidFill>
            <a:srgbClr val="A26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3200400"/>
            <a:ext cx="1645920" cy="457200"/>
          </a:xfrm>
          <a:prstGeom prst="rect">
            <a:avLst/>
          </a:prstGeom>
          <a:noFill/>
        </p:spPr>
        <p:txBody>
          <a:bodyPr wrap="square"/>
          <a:lstStyle/>
          <a:p>
            <a:pPr algn="ctr">
              <a:spcAft>
                <a:spcPts val="0"/>
              </a:spcAft>
              <a:defRPr sz="1000" b="1">
                <a:solidFill>
                  <a:srgbClr val="FFFFFF"/>
                </a:solidFill>
                <a:latin typeface="Arial" panose="020B0604020202020204"/>
              </a:defRPr>
            </a:pPr>
            <a:r>
              <a:t>Handler B</a:t>
            </a:r>
          </a:p>
        </p:txBody>
      </p:sp>
      <p:sp>
        <p:nvSpPr>
          <p:cNvPr id="18" name="Rounded Rectangle 17"/>
          <p:cNvSpPr/>
          <p:nvPr/>
        </p:nvSpPr>
        <p:spPr>
          <a:xfrm>
            <a:off x="7223760" y="3566160"/>
            <a:ext cx="1645920" cy="457200"/>
          </a:xfrm>
          <a:prstGeom prst="roundRect">
            <a:avLst/>
          </a:prstGeom>
          <a:solidFill>
            <a:srgbClr val="A26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0" y="3566160"/>
            <a:ext cx="1645920" cy="457200"/>
          </a:xfrm>
          <a:prstGeom prst="rect">
            <a:avLst/>
          </a:prstGeom>
          <a:noFill/>
        </p:spPr>
        <p:txBody>
          <a:bodyPr wrap="square"/>
          <a:lstStyle/>
          <a:p>
            <a:pPr algn="ctr">
              <a:spcAft>
                <a:spcPts val="0"/>
              </a:spcAft>
              <a:defRPr sz="1000" b="1">
                <a:solidFill>
                  <a:srgbClr val="FFFFFF"/>
                </a:solidFill>
                <a:latin typeface="Arial" panose="020B0604020202020204"/>
              </a:defRPr>
            </a:pPr>
            <a:r>
              <a:t>Handler 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C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37160"/>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640080"/>
          </a:xfrm>
          <a:prstGeom prst="rect">
            <a:avLst/>
          </a:prstGeom>
          <a:noFill/>
        </p:spPr>
        <p:txBody>
          <a:bodyPr wrap="square"/>
          <a:lstStyle/>
          <a:p>
            <a:pPr algn="l">
              <a:spcAft>
                <a:spcPts val="0"/>
              </a:spcAft>
              <a:defRPr sz="3200" b="1">
                <a:solidFill>
                  <a:srgbClr val="2F3C7E"/>
                </a:solidFill>
                <a:latin typeface="Arial Black" panose="020B0A04020102020204"/>
              </a:defRPr>
            </a:pPr>
            <a:r>
              <a:t>核心实现方式</a:t>
            </a:r>
          </a:p>
        </p:txBody>
      </p:sp>
      <p:sp>
        <p:nvSpPr>
          <p:cNvPr id="5" name="Rectangle 4"/>
          <p:cNvSpPr/>
          <p:nvPr/>
        </p:nvSpPr>
        <p:spPr>
          <a:xfrm>
            <a:off x="457200" y="1005840"/>
            <a:ext cx="1371600" cy="54864"/>
          </a:xfrm>
          <a:prstGeom prst="rect">
            <a:avLst/>
          </a:prstGeom>
          <a:solidFill>
            <a:srgbClr val="99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71600"/>
            <a:ext cx="411480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71600"/>
            <a:ext cx="91440" cy="1371600"/>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08760"/>
            <a:ext cx="548640" cy="457200"/>
          </a:xfrm>
          <a:prstGeom prst="rect">
            <a:avLst/>
          </a:prstGeom>
          <a:noFill/>
        </p:spPr>
        <p:txBody>
          <a:bodyPr wrap="square"/>
          <a:lstStyle/>
          <a:p>
            <a:pPr algn="ctr">
              <a:spcAft>
                <a:spcPts val="0"/>
              </a:spcAft>
              <a:defRPr sz="2400" b="0">
                <a:latin typeface="Arial" panose="020B0604020202020204"/>
              </a:defRPr>
            </a:pPr>
            <a:r>
              <a:t>🤖</a:t>
            </a:r>
          </a:p>
        </p:txBody>
      </p:sp>
      <p:sp>
        <p:nvSpPr>
          <p:cNvPr id="9" name="TextBox 8"/>
          <p:cNvSpPr txBox="1"/>
          <p:nvPr/>
        </p:nvSpPr>
        <p:spPr>
          <a:xfrm>
            <a:off x="1188720" y="1554480"/>
            <a:ext cx="3200400" cy="365760"/>
          </a:xfrm>
          <a:prstGeom prst="rect">
            <a:avLst/>
          </a:prstGeom>
          <a:noFill/>
        </p:spPr>
        <p:txBody>
          <a:bodyPr wrap="square"/>
          <a:lstStyle/>
          <a:p>
            <a:pPr algn="l">
              <a:spcAft>
                <a:spcPts val="0"/>
              </a:spcAft>
              <a:defRPr sz="1400" b="1">
                <a:solidFill>
                  <a:srgbClr val="2F3C7E"/>
                </a:solidFill>
                <a:latin typeface="Arial" panose="020B0604020202020204"/>
              </a:defRPr>
            </a:pPr>
            <a:r>
              <a:t>LLM-based Routing</a:t>
            </a:r>
          </a:p>
        </p:txBody>
      </p:sp>
      <p:sp>
        <p:nvSpPr>
          <p:cNvPr id="10" name="TextBox 9"/>
          <p:cNvSpPr txBox="1"/>
          <p:nvPr/>
        </p:nvSpPr>
        <p:spPr>
          <a:xfrm>
            <a:off x="1188720" y="1965960"/>
            <a:ext cx="3200400" cy="640080"/>
          </a:xfrm>
          <a:prstGeom prst="rect">
            <a:avLst/>
          </a:prstGeom>
          <a:noFill/>
        </p:spPr>
        <p:txBody>
          <a:bodyPr wrap="square">
            <a:spAutoFit/>
          </a:bodyPr>
          <a:lstStyle/>
          <a:p>
            <a:pPr>
              <a:defRPr sz="1100">
                <a:solidFill>
                  <a:srgbClr val="64748B"/>
                </a:solidFill>
                <a:latin typeface="Arial" panose="020B0604020202020204"/>
              </a:defRPr>
            </a:pPr>
            <a:r>
              <a:t>使用 LLM 分析输入并输出分类标识</a:t>
            </a:r>
          </a:p>
        </p:txBody>
      </p:sp>
      <p:sp>
        <p:nvSpPr>
          <p:cNvPr id="11" name="Rounded Rectangle 10"/>
          <p:cNvSpPr/>
          <p:nvPr/>
        </p:nvSpPr>
        <p:spPr>
          <a:xfrm>
            <a:off x="4846320" y="1371600"/>
            <a:ext cx="411480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46320" y="1371600"/>
            <a:ext cx="91440" cy="1371600"/>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0" y="1508760"/>
            <a:ext cx="548640" cy="457200"/>
          </a:xfrm>
          <a:prstGeom prst="rect">
            <a:avLst/>
          </a:prstGeom>
          <a:noFill/>
        </p:spPr>
        <p:txBody>
          <a:bodyPr wrap="square"/>
          <a:lstStyle/>
          <a:p>
            <a:pPr algn="ctr">
              <a:spcAft>
                <a:spcPts val="0"/>
              </a:spcAft>
              <a:defRPr sz="2400" b="0">
                <a:latin typeface="Arial" panose="020B0604020202020204"/>
              </a:defRPr>
            </a:pPr>
            <a:r>
              <a:t>📊</a:t>
            </a:r>
          </a:p>
        </p:txBody>
      </p:sp>
      <p:sp>
        <p:nvSpPr>
          <p:cNvPr id="14" name="TextBox 13"/>
          <p:cNvSpPr txBox="1"/>
          <p:nvPr/>
        </p:nvSpPr>
        <p:spPr>
          <a:xfrm>
            <a:off x="5577840" y="1554480"/>
            <a:ext cx="3200400" cy="365760"/>
          </a:xfrm>
          <a:prstGeom prst="rect">
            <a:avLst/>
          </a:prstGeom>
          <a:noFill/>
        </p:spPr>
        <p:txBody>
          <a:bodyPr wrap="square"/>
          <a:lstStyle/>
          <a:p>
            <a:pPr algn="l">
              <a:spcAft>
                <a:spcPts val="0"/>
              </a:spcAft>
              <a:defRPr sz="1400" b="1">
                <a:solidFill>
                  <a:srgbClr val="2F3C7E"/>
                </a:solidFill>
                <a:latin typeface="Arial" panose="020B0604020202020204"/>
              </a:defRPr>
            </a:pPr>
            <a:r>
              <a:t>Embedding-based Routing</a:t>
            </a:r>
          </a:p>
        </p:txBody>
      </p:sp>
      <p:sp>
        <p:nvSpPr>
          <p:cNvPr id="15" name="TextBox 14"/>
          <p:cNvSpPr txBox="1"/>
          <p:nvPr/>
        </p:nvSpPr>
        <p:spPr>
          <a:xfrm>
            <a:off x="5577840" y="1965960"/>
            <a:ext cx="3200400" cy="640080"/>
          </a:xfrm>
          <a:prstGeom prst="rect">
            <a:avLst/>
          </a:prstGeom>
          <a:noFill/>
        </p:spPr>
        <p:txBody>
          <a:bodyPr wrap="square">
            <a:spAutoFit/>
          </a:bodyPr>
          <a:lstStyle/>
          <a:p>
            <a:pPr>
              <a:defRPr sz="1100">
                <a:solidFill>
                  <a:srgbClr val="64748B"/>
                </a:solidFill>
                <a:latin typeface="Arial" panose="020B0604020202020204"/>
              </a:defRPr>
            </a:pPr>
            <a:r>
              <a:t>将输入转换为向量，通过语义相似度匹配路由</a:t>
            </a:r>
          </a:p>
        </p:txBody>
      </p:sp>
      <p:sp>
        <p:nvSpPr>
          <p:cNvPr id="16" name="Rounded Rectangle 15"/>
          <p:cNvSpPr/>
          <p:nvPr/>
        </p:nvSpPr>
        <p:spPr>
          <a:xfrm>
            <a:off x="457200" y="3017520"/>
            <a:ext cx="411480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017520"/>
            <a:ext cx="91440" cy="1371600"/>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154679"/>
            <a:ext cx="548640" cy="457200"/>
          </a:xfrm>
          <a:prstGeom prst="rect">
            <a:avLst/>
          </a:prstGeom>
          <a:noFill/>
        </p:spPr>
        <p:txBody>
          <a:bodyPr wrap="square"/>
          <a:lstStyle/>
          <a:p>
            <a:pPr algn="ctr">
              <a:spcAft>
                <a:spcPts val="0"/>
              </a:spcAft>
              <a:defRPr sz="2400" b="0">
                <a:latin typeface="Arial" panose="020B0604020202020204"/>
              </a:defRPr>
            </a:pPr>
            <a:r>
              <a:t>📏</a:t>
            </a:r>
          </a:p>
        </p:txBody>
      </p:sp>
      <p:sp>
        <p:nvSpPr>
          <p:cNvPr id="19" name="TextBox 18"/>
          <p:cNvSpPr txBox="1"/>
          <p:nvPr/>
        </p:nvSpPr>
        <p:spPr>
          <a:xfrm>
            <a:off x="1188720" y="3200400"/>
            <a:ext cx="3200400" cy="365760"/>
          </a:xfrm>
          <a:prstGeom prst="rect">
            <a:avLst/>
          </a:prstGeom>
          <a:noFill/>
        </p:spPr>
        <p:txBody>
          <a:bodyPr wrap="square"/>
          <a:lstStyle/>
          <a:p>
            <a:pPr algn="l">
              <a:spcAft>
                <a:spcPts val="0"/>
              </a:spcAft>
              <a:defRPr sz="1400" b="1">
                <a:solidFill>
                  <a:srgbClr val="2F3C7E"/>
                </a:solidFill>
                <a:latin typeface="Arial" panose="020B0604020202020204"/>
              </a:defRPr>
            </a:pPr>
            <a:r>
              <a:t>Rule-based Routing</a:t>
            </a:r>
          </a:p>
        </p:txBody>
      </p:sp>
      <p:sp>
        <p:nvSpPr>
          <p:cNvPr id="20" name="TextBox 19"/>
          <p:cNvSpPr txBox="1"/>
          <p:nvPr/>
        </p:nvSpPr>
        <p:spPr>
          <a:xfrm>
            <a:off x="1188720" y="3611879"/>
            <a:ext cx="3200400" cy="640080"/>
          </a:xfrm>
          <a:prstGeom prst="rect">
            <a:avLst/>
          </a:prstGeom>
          <a:noFill/>
        </p:spPr>
        <p:txBody>
          <a:bodyPr wrap="square">
            <a:spAutoFit/>
          </a:bodyPr>
          <a:lstStyle/>
          <a:p>
            <a:pPr>
              <a:defRPr sz="1100">
                <a:solidFill>
                  <a:srgbClr val="64748B"/>
                </a:solidFill>
                <a:latin typeface="Arial" panose="020B0604020202020204"/>
              </a:defRPr>
            </a:pPr>
            <a:r>
              <a:t>使用预定义规则（关键词、模式）进行路由</a:t>
            </a:r>
          </a:p>
        </p:txBody>
      </p:sp>
      <p:sp>
        <p:nvSpPr>
          <p:cNvPr id="21" name="Rounded Rectangle 20"/>
          <p:cNvSpPr/>
          <p:nvPr/>
        </p:nvSpPr>
        <p:spPr>
          <a:xfrm>
            <a:off x="4846320" y="3017520"/>
            <a:ext cx="411480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46320" y="3017520"/>
            <a:ext cx="91440" cy="1371600"/>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3154679"/>
            <a:ext cx="548640" cy="457200"/>
          </a:xfrm>
          <a:prstGeom prst="rect">
            <a:avLst/>
          </a:prstGeom>
          <a:noFill/>
        </p:spPr>
        <p:txBody>
          <a:bodyPr wrap="square"/>
          <a:lstStyle/>
          <a:p>
            <a:pPr algn="ctr">
              <a:spcAft>
                <a:spcPts val="0"/>
              </a:spcAft>
              <a:defRPr sz="2400" b="0">
                <a:latin typeface="Arial" panose="020B0604020202020204"/>
              </a:defRPr>
            </a:pPr>
            <a:r>
              <a:t>🧠</a:t>
            </a:r>
          </a:p>
        </p:txBody>
      </p:sp>
      <p:sp>
        <p:nvSpPr>
          <p:cNvPr id="24" name="TextBox 23"/>
          <p:cNvSpPr txBox="1"/>
          <p:nvPr/>
        </p:nvSpPr>
        <p:spPr>
          <a:xfrm>
            <a:off x="5577840" y="3200400"/>
            <a:ext cx="3200400" cy="365760"/>
          </a:xfrm>
          <a:prstGeom prst="rect">
            <a:avLst/>
          </a:prstGeom>
          <a:noFill/>
        </p:spPr>
        <p:txBody>
          <a:bodyPr wrap="square"/>
          <a:lstStyle/>
          <a:p>
            <a:pPr algn="l">
              <a:spcAft>
                <a:spcPts val="0"/>
              </a:spcAft>
              <a:defRPr sz="1400" b="1">
                <a:solidFill>
                  <a:srgbClr val="2F3C7E"/>
                </a:solidFill>
                <a:latin typeface="Arial" panose="020B0604020202020204"/>
              </a:defRPr>
            </a:pPr>
            <a:r>
              <a:t>ML Model-based Routing</a:t>
            </a:r>
          </a:p>
        </p:txBody>
      </p:sp>
      <p:sp>
        <p:nvSpPr>
          <p:cNvPr id="25" name="TextBox 24"/>
          <p:cNvSpPr txBox="1"/>
          <p:nvPr/>
        </p:nvSpPr>
        <p:spPr>
          <a:xfrm>
            <a:off x="5577840" y="3611879"/>
            <a:ext cx="3200400" cy="640080"/>
          </a:xfrm>
          <a:prstGeom prst="rect">
            <a:avLst/>
          </a:prstGeom>
          <a:noFill/>
        </p:spPr>
        <p:txBody>
          <a:bodyPr wrap="square">
            <a:spAutoFit/>
          </a:bodyPr>
          <a:lstStyle/>
          <a:p>
            <a:pPr>
              <a:defRPr sz="1100">
                <a:solidFill>
                  <a:srgbClr val="64748B"/>
                </a:solidFill>
                <a:latin typeface="Arial" panose="020B0604020202020204"/>
              </a:defRPr>
            </a:pPr>
            <a:r>
              <a:t>使用训练好的分类模型进行路由决策</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C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37160"/>
          </a:xfrm>
          <a:prstGeom prst="rect">
            <a:avLst/>
          </a:prstGeom>
          <a:solidFill>
            <a:srgbClr val="A26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640080"/>
          </a:xfrm>
          <a:prstGeom prst="rect">
            <a:avLst/>
          </a:prstGeom>
          <a:noFill/>
        </p:spPr>
        <p:txBody>
          <a:bodyPr wrap="square"/>
          <a:lstStyle/>
          <a:p>
            <a:pPr algn="l">
              <a:spcAft>
                <a:spcPts val="0"/>
              </a:spcAft>
              <a:defRPr sz="2800" b="1">
                <a:solidFill>
                  <a:srgbClr val="2F3C7E"/>
                </a:solidFill>
                <a:latin typeface="Arial Black" panose="020B0A04020102020204"/>
              </a:defRPr>
            </a:pPr>
            <a:r>
              <a:t>实际应用场景</a:t>
            </a:r>
          </a:p>
        </p:txBody>
      </p:sp>
      <p:sp>
        <p:nvSpPr>
          <p:cNvPr id="5" name="Rounded Rectangle 4"/>
          <p:cNvSpPr/>
          <p:nvPr/>
        </p:nvSpPr>
        <p:spPr>
          <a:xfrm>
            <a:off x="457200" y="1280160"/>
            <a:ext cx="4114800"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80160"/>
            <a:ext cx="4114800" cy="73152"/>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463039"/>
            <a:ext cx="3840480" cy="457200"/>
          </a:xfrm>
          <a:prstGeom prst="rect">
            <a:avLst/>
          </a:prstGeom>
          <a:noFill/>
        </p:spPr>
        <p:txBody>
          <a:bodyPr wrap="square"/>
          <a:lstStyle/>
          <a:p>
            <a:pPr algn="l">
              <a:spcAft>
                <a:spcPts val="0"/>
              </a:spcAft>
              <a:defRPr sz="1400" b="1">
                <a:solidFill>
                  <a:srgbClr val="2F3C7E"/>
                </a:solidFill>
                <a:latin typeface="Arial" panose="020B0604020202020204"/>
              </a:defRPr>
            </a:pPr>
            <a:r>
              <a:t>🛎️  客户服务机器人</a:t>
            </a:r>
          </a:p>
        </p:txBody>
      </p:sp>
      <p:sp>
        <p:nvSpPr>
          <p:cNvPr id="8" name="TextBox 7"/>
          <p:cNvSpPr txBox="1"/>
          <p:nvPr/>
        </p:nvSpPr>
        <p:spPr>
          <a:xfrm>
            <a:off x="594360" y="1965960"/>
            <a:ext cx="3840480" cy="640080"/>
          </a:xfrm>
          <a:prstGeom prst="rect">
            <a:avLst/>
          </a:prstGeom>
          <a:noFill/>
        </p:spPr>
        <p:txBody>
          <a:bodyPr wrap="square">
            <a:spAutoFit/>
          </a:bodyPr>
          <a:lstStyle/>
          <a:p>
            <a:pPr>
              <a:defRPr sz="1100">
                <a:solidFill>
                  <a:srgbClr val="475569"/>
                </a:solidFill>
                <a:latin typeface="Arial" panose="020B0604020202020204"/>
              </a:defRPr>
            </a:pPr>
            <a:r>
              <a:t>区分订单查询、产品咨询、技术支持等不同意图</a:t>
            </a:r>
          </a:p>
        </p:txBody>
      </p:sp>
      <p:sp>
        <p:nvSpPr>
          <p:cNvPr id="9" name="Rounded Rectangle 8"/>
          <p:cNvSpPr/>
          <p:nvPr/>
        </p:nvSpPr>
        <p:spPr>
          <a:xfrm>
            <a:off x="4846320" y="1280160"/>
            <a:ext cx="4114800"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46320" y="1280160"/>
            <a:ext cx="4114800" cy="73152"/>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1463039"/>
            <a:ext cx="3840480" cy="457200"/>
          </a:xfrm>
          <a:prstGeom prst="rect">
            <a:avLst/>
          </a:prstGeom>
          <a:noFill/>
        </p:spPr>
        <p:txBody>
          <a:bodyPr wrap="square"/>
          <a:lstStyle/>
          <a:p>
            <a:pPr algn="l">
              <a:spcAft>
                <a:spcPts val="0"/>
              </a:spcAft>
              <a:defRPr sz="1400" b="1">
                <a:solidFill>
                  <a:srgbClr val="2F3C7E"/>
                </a:solidFill>
                <a:latin typeface="Arial" panose="020B0604020202020204"/>
              </a:defRPr>
            </a:pPr>
            <a:r>
              <a:t>📧  数据处理管道</a:t>
            </a:r>
          </a:p>
        </p:txBody>
      </p:sp>
      <p:sp>
        <p:nvSpPr>
          <p:cNvPr id="12" name="TextBox 11"/>
          <p:cNvSpPr txBox="1"/>
          <p:nvPr/>
        </p:nvSpPr>
        <p:spPr>
          <a:xfrm>
            <a:off x="4983480" y="1965960"/>
            <a:ext cx="3840480" cy="640080"/>
          </a:xfrm>
          <a:prstGeom prst="rect">
            <a:avLst/>
          </a:prstGeom>
          <a:noFill/>
        </p:spPr>
        <p:txBody>
          <a:bodyPr wrap="square">
            <a:spAutoFit/>
          </a:bodyPr>
          <a:lstStyle/>
          <a:p>
            <a:pPr>
              <a:defRPr sz="1100">
                <a:solidFill>
                  <a:srgbClr val="475569"/>
                </a:solidFill>
                <a:latin typeface="Arial" panose="020B0604020202020204"/>
              </a:defRPr>
            </a:pPr>
            <a:r>
              <a:t>根据数据类型分发到不同处理流程</a:t>
            </a:r>
          </a:p>
        </p:txBody>
      </p:sp>
      <p:sp>
        <p:nvSpPr>
          <p:cNvPr id="13" name="Rounded Rectangle 12"/>
          <p:cNvSpPr/>
          <p:nvPr/>
        </p:nvSpPr>
        <p:spPr>
          <a:xfrm>
            <a:off x="457200" y="3017520"/>
            <a:ext cx="4114800"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17520"/>
            <a:ext cx="4114800" cy="73152"/>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200400"/>
            <a:ext cx="3840480" cy="457200"/>
          </a:xfrm>
          <a:prstGeom prst="rect">
            <a:avLst/>
          </a:prstGeom>
          <a:noFill/>
        </p:spPr>
        <p:txBody>
          <a:bodyPr wrap="square"/>
          <a:lstStyle/>
          <a:p>
            <a:pPr algn="l">
              <a:spcAft>
                <a:spcPts val="0"/>
              </a:spcAft>
              <a:defRPr sz="1400" b="1">
                <a:solidFill>
                  <a:srgbClr val="2F3C7E"/>
                </a:solidFill>
                <a:latin typeface="Arial" panose="020B0604020202020204"/>
              </a:defRPr>
            </a:pPr>
            <a:r>
              <a:t>🔧  多工具调度</a:t>
            </a:r>
          </a:p>
        </p:txBody>
      </p:sp>
      <p:sp>
        <p:nvSpPr>
          <p:cNvPr id="16" name="TextBox 15"/>
          <p:cNvSpPr txBox="1"/>
          <p:nvPr/>
        </p:nvSpPr>
        <p:spPr>
          <a:xfrm>
            <a:off x="594360" y="3703320"/>
            <a:ext cx="3840480" cy="640080"/>
          </a:xfrm>
          <a:prstGeom prst="rect">
            <a:avLst/>
          </a:prstGeom>
          <a:noFill/>
        </p:spPr>
        <p:txBody>
          <a:bodyPr wrap="square">
            <a:spAutoFit/>
          </a:bodyPr>
          <a:lstStyle/>
          <a:p>
            <a:pPr>
              <a:defRPr sz="1100">
                <a:solidFill>
                  <a:srgbClr val="475569"/>
                </a:solidFill>
                <a:latin typeface="Arial" panose="020B0604020202020204"/>
              </a:defRPr>
            </a:pPr>
            <a:r>
              <a:t>根据任务需求选择最合适的工具或子Agent</a:t>
            </a:r>
          </a:p>
        </p:txBody>
      </p:sp>
      <p:sp>
        <p:nvSpPr>
          <p:cNvPr id="17" name="Rounded Rectangle 16"/>
          <p:cNvSpPr/>
          <p:nvPr/>
        </p:nvSpPr>
        <p:spPr>
          <a:xfrm>
            <a:off x="4846320" y="3017520"/>
            <a:ext cx="4114800"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46320" y="3017520"/>
            <a:ext cx="4114800" cy="73152"/>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83480" y="3200400"/>
            <a:ext cx="3840480" cy="457200"/>
          </a:xfrm>
          <a:prstGeom prst="rect">
            <a:avLst/>
          </a:prstGeom>
          <a:noFill/>
        </p:spPr>
        <p:txBody>
          <a:bodyPr wrap="square"/>
          <a:lstStyle/>
          <a:p>
            <a:pPr algn="l">
              <a:spcAft>
                <a:spcPts val="0"/>
              </a:spcAft>
              <a:defRPr sz="1400" b="1">
                <a:solidFill>
                  <a:srgbClr val="2F3C7E"/>
                </a:solidFill>
                <a:latin typeface="Arial" panose="020B0604020202020204"/>
              </a:defRPr>
            </a:pPr>
            <a:r>
              <a:t>💻  编程助手</a:t>
            </a:r>
          </a:p>
        </p:txBody>
      </p:sp>
      <p:sp>
        <p:nvSpPr>
          <p:cNvPr id="20" name="TextBox 19"/>
          <p:cNvSpPr txBox="1"/>
          <p:nvPr/>
        </p:nvSpPr>
        <p:spPr>
          <a:xfrm>
            <a:off x="4983480" y="3703320"/>
            <a:ext cx="3840480" cy="640080"/>
          </a:xfrm>
          <a:prstGeom prst="rect">
            <a:avLst/>
          </a:prstGeom>
          <a:noFill/>
        </p:spPr>
        <p:txBody>
          <a:bodyPr wrap="square">
            <a:spAutoFit/>
          </a:bodyPr>
          <a:lstStyle/>
          <a:p>
            <a:pPr>
              <a:defRPr sz="1100">
                <a:solidFill>
                  <a:srgbClr val="475569"/>
                </a:solidFill>
                <a:latin typeface="Arial" panose="020B0604020202020204"/>
              </a:defRPr>
            </a:pPr>
            <a:r>
              <a:t>识别编程语言和意图（调试、解释、翻译）</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C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37160"/>
          </a:xfrm>
          <a:prstGeom prst="rect">
            <a:avLst/>
          </a:prstGeom>
          <a:solidFill>
            <a:srgbClr val="A26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640080"/>
          </a:xfrm>
          <a:prstGeom prst="rect">
            <a:avLst/>
          </a:prstGeom>
          <a:noFill/>
        </p:spPr>
        <p:txBody>
          <a:bodyPr wrap="square"/>
          <a:lstStyle/>
          <a:p>
            <a:pPr algn="l">
              <a:spcAft>
                <a:spcPts val="0"/>
              </a:spcAft>
              <a:defRPr sz="2800" b="1">
                <a:solidFill>
                  <a:srgbClr val="2F3C7E"/>
                </a:solidFill>
                <a:latin typeface="Arial Black" panose="020B0A04020102020204"/>
              </a:defRPr>
            </a:pPr>
            <a:r>
              <a:t>LangChain 实现示例</a:t>
            </a:r>
          </a:p>
        </p:txBody>
      </p:sp>
      <p:sp>
        <p:nvSpPr>
          <p:cNvPr id="5" name="TextBox 4"/>
          <p:cNvSpPr txBox="1"/>
          <p:nvPr/>
        </p:nvSpPr>
        <p:spPr>
          <a:xfrm>
            <a:off x="457200" y="960120"/>
            <a:ext cx="8229600" cy="365760"/>
          </a:xfrm>
          <a:prstGeom prst="rect">
            <a:avLst/>
          </a:prstGeom>
          <a:noFill/>
        </p:spPr>
        <p:txBody>
          <a:bodyPr wrap="square"/>
          <a:lstStyle/>
          <a:p>
            <a:pPr algn="l">
              <a:spcAft>
                <a:spcPts val="0"/>
              </a:spcAft>
              <a:defRPr sz="1400" b="0">
                <a:solidFill>
                  <a:srgbClr val="64748B"/>
                </a:solidFill>
                <a:latin typeface="Arial" panose="020B0604020202020204"/>
              </a:defRPr>
            </a:pPr>
            <a:r>
              <a:t>使用 RunnableBranch 实现路由</a:t>
            </a:r>
          </a:p>
        </p:txBody>
      </p:sp>
      <p:sp>
        <p:nvSpPr>
          <p:cNvPr id="6" name="Rectangle 5"/>
          <p:cNvSpPr/>
          <p:nvPr/>
        </p:nvSpPr>
        <p:spPr>
          <a:xfrm>
            <a:off x="457200" y="1371600"/>
            <a:ext cx="8229600" cy="32004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63040"/>
            <a:ext cx="8046720" cy="3017520"/>
          </a:xfrm>
          <a:prstGeom prst="rect">
            <a:avLst/>
          </a:prstGeom>
          <a:noFill/>
        </p:spPr>
        <p:txBody>
          <a:bodyPr wrap="square">
            <a:spAutoFit/>
          </a:bodyPr>
          <a:lstStyle/>
          <a:p>
            <a:pPr>
              <a:defRPr sz="1000">
                <a:solidFill>
                  <a:srgbClr val="E2E8F0"/>
                </a:solidFill>
                <a:latin typeface="Consolas" panose="020B0609020204030204"/>
              </a:defRPr>
            </a:pPr>
            <a:r>
              <a:t># 定义路由提示</a:t>
            </a:r>
            <a:br/>
            <a:r>
              <a:t>router_prompt = ChatPromptTemplate.from_messages([</a:t>
            </a:r>
            <a:br/>
            <a:r>
              <a:t>    ("system", "分析用户请求，输出分类: 'booker', 'info', 或 'unclear'"),</a:t>
            </a:r>
            <a:br/>
            <a:r>
              <a:t>    ("user", "{request}")</a:t>
            </a:r>
            <a:br/>
            <a:r>
              <a:t>])</a:t>
            </a:r>
            <a:br/>
            <a:br/>
            <a:r>
              <a:t># 创建路由链</a:t>
            </a:r>
            <a:br/>
            <a:r>
              <a:t>router_chain = router_prompt | llm | StrOutputParser()</a:t>
            </a:r>
            <a:br/>
            <a:br/>
            <a:r>
              <a:t># 使用 RunnableBranch 实现分支逻辑</a:t>
            </a:r>
            <a:br/>
            <a:r>
              <a:t>branch = RunnableBranch(</a:t>
            </a:r>
            <a:br/>
            <a:r>
              <a:t>    (lambda x: "booker" in x["decision"], booking_handler),</a:t>
            </a:r>
            <a:br/>
            <a:r>
              <a:t>    (lambda x: "info" in x["decision"], info_handler),</a:t>
            </a:r>
            <a:br/>
            <a:r>
              <a:t>    unclear_handler  # 默认分支</a:t>
            </a:r>
            <a:br/>
            <a:r>
              <a:t>)</a:t>
            </a:r>
            <a:br/>
            <a:br/>
            <a:r>
              <a:t># 组合完整链</a:t>
            </a:r>
            <a:br/>
            <a:r>
              <a:t>full_chain = {"decision": router_chain, "request": RunnablePassthrough()} | branch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FC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37160"/>
          </a:xfrm>
          <a:prstGeom prst="rect">
            <a:avLst/>
          </a:prstGeom>
          <a:solidFill>
            <a:srgbClr val="99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640080"/>
          </a:xfrm>
          <a:prstGeom prst="rect">
            <a:avLst/>
          </a:prstGeom>
          <a:noFill/>
        </p:spPr>
        <p:txBody>
          <a:bodyPr wrap="square"/>
          <a:lstStyle/>
          <a:p>
            <a:pPr algn="l">
              <a:spcAft>
                <a:spcPts val="0"/>
              </a:spcAft>
              <a:defRPr sz="2800" b="1">
                <a:solidFill>
                  <a:srgbClr val="2F3C7E"/>
                </a:solidFill>
                <a:latin typeface="Arial Black" panose="020B0A04020102020204"/>
              </a:defRPr>
            </a:pPr>
            <a:r>
              <a:t>项目代码示例</a:t>
            </a:r>
          </a:p>
        </p:txBody>
      </p:sp>
      <p:sp>
        <p:nvSpPr>
          <p:cNvPr id="5" name="TextBox 4"/>
          <p:cNvSpPr txBox="1"/>
          <p:nvPr/>
        </p:nvSpPr>
        <p:spPr>
          <a:xfrm>
            <a:off x="457200" y="960120"/>
            <a:ext cx="8229600" cy="365760"/>
          </a:xfrm>
          <a:prstGeom prst="rect">
            <a:avLst/>
          </a:prstGeom>
          <a:noFill/>
        </p:spPr>
        <p:txBody>
          <a:bodyPr wrap="square"/>
          <a:lstStyle/>
          <a:p>
            <a:pPr algn="l">
              <a:spcAft>
                <a:spcPts val="0"/>
              </a:spcAft>
              <a:defRPr sz="1400" b="0">
                <a:solidFill>
                  <a:srgbClr val="64748B"/>
                </a:solidFill>
                <a:latin typeface="Arial" panose="020B0604020202020204"/>
              </a:defRPr>
            </a:pPr>
            <a:r>
              <a:t>src/agents/patterns/routing.py</a:t>
            </a:r>
          </a:p>
        </p:txBody>
      </p:sp>
      <p:sp>
        <p:nvSpPr>
          <p:cNvPr id="6" name="Rounded Rectangle 5"/>
          <p:cNvSpPr/>
          <p:nvPr/>
        </p:nvSpPr>
        <p:spPr>
          <a:xfrm>
            <a:off x="457200" y="1371600"/>
            <a:ext cx="393192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3566160" cy="320040"/>
          </a:xfrm>
          <a:prstGeom prst="rect">
            <a:avLst/>
          </a:prstGeom>
          <a:noFill/>
        </p:spPr>
        <p:txBody>
          <a:bodyPr wrap="square"/>
          <a:lstStyle/>
          <a:p>
            <a:pPr algn="l">
              <a:spcAft>
                <a:spcPts val="0"/>
              </a:spcAft>
              <a:defRPr sz="1400" b="1">
                <a:solidFill>
                  <a:srgbClr val="6D2E46"/>
                </a:solidFill>
                <a:latin typeface="Arial" panose="020B0604020202020204"/>
              </a:defRPr>
            </a:pPr>
            <a:r>
              <a:t>场景</a:t>
            </a:r>
          </a:p>
        </p:txBody>
      </p:sp>
      <p:sp>
        <p:nvSpPr>
          <p:cNvPr id="8" name="TextBox 7"/>
          <p:cNvSpPr txBox="1"/>
          <p:nvPr/>
        </p:nvSpPr>
        <p:spPr>
          <a:xfrm>
            <a:off x="640080" y="1828800"/>
            <a:ext cx="3566160" cy="548640"/>
          </a:xfrm>
          <a:prstGeom prst="rect">
            <a:avLst/>
          </a:prstGeom>
          <a:noFill/>
        </p:spPr>
        <p:txBody>
          <a:bodyPr wrap="square"/>
          <a:lstStyle/>
          <a:p>
            <a:pPr algn="l">
              <a:spcAft>
                <a:spcPts val="0"/>
              </a:spcAft>
              <a:defRPr sz="1200" b="0">
                <a:solidFill>
                  <a:srgbClr val="475569"/>
                </a:solidFill>
                <a:latin typeface="Arial" panose="020B0604020202020204"/>
              </a:defRPr>
            </a:pPr>
            <a:r>
              <a:t>根据用户意图，将请求路由到不同的处理程序（预订 vs 信息查询）</a:t>
            </a:r>
          </a:p>
        </p:txBody>
      </p:sp>
      <p:sp>
        <p:nvSpPr>
          <p:cNvPr id="9" name="TextBox 8"/>
          <p:cNvSpPr txBox="1"/>
          <p:nvPr/>
        </p:nvSpPr>
        <p:spPr>
          <a:xfrm>
            <a:off x="4754880" y="1371600"/>
            <a:ext cx="3931920" cy="365760"/>
          </a:xfrm>
          <a:prstGeom prst="rect">
            <a:avLst/>
          </a:prstGeom>
          <a:noFill/>
        </p:spPr>
        <p:txBody>
          <a:bodyPr wrap="square"/>
          <a:lstStyle/>
          <a:p>
            <a:pPr algn="l">
              <a:spcAft>
                <a:spcPts val="0"/>
              </a:spcAft>
              <a:defRPr sz="1400" b="1">
                <a:solidFill>
                  <a:srgbClr val="2F3C7E"/>
                </a:solidFill>
                <a:latin typeface="Arial" panose="020B0604020202020204"/>
              </a:defRPr>
            </a:pPr>
            <a:r>
              <a:t>处理流程</a:t>
            </a:r>
          </a:p>
        </p:txBody>
      </p:sp>
      <p:sp>
        <p:nvSpPr>
          <p:cNvPr id="10" name="Rounded Rectangle 9"/>
          <p:cNvSpPr/>
          <p:nvPr/>
        </p:nvSpPr>
        <p:spPr>
          <a:xfrm>
            <a:off x="4754880" y="1828800"/>
            <a:ext cx="1005840" cy="411480"/>
          </a:xfrm>
          <a:prstGeom prst="roundRect">
            <a:avLst/>
          </a:prstGeom>
          <a:solidFill>
            <a:srgbClr val="ECE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1828800"/>
            <a:ext cx="1005840" cy="411480"/>
          </a:xfrm>
          <a:prstGeom prst="rect">
            <a:avLst/>
          </a:prstGeom>
          <a:noFill/>
        </p:spPr>
        <p:txBody>
          <a:bodyPr wrap="square"/>
          <a:lstStyle/>
          <a:p>
            <a:pPr algn="ctr">
              <a:spcAft>
                <a:spcPts val="0"/>
              </a:spcAft>
              <a:defRPr sz="1000" b="1">
                <a:solidFill>
                  <a:srgbClr val="2F3C7E"/>
                </a:solidFill>
                <a:latin typeface="Arial" panose="020B0604020202020204"/>
              </a:defRPr>
            </a:pPr>
            <a:r>
              <a:t>输入</a:t>
            </a:r>
          </a:p>
        </p:txBody>
      </p:sp>
      <p:sp>
        <p:nvSpPr>
          <p:cNvPr id="12" name="TextBox 11"/>
          <p:cNvSpPr txBox="1"/>
          <p:nvPr/>
        </p:nvSpPr>
        <p:spPr>
          <a:xfrm>
            <a:off x="5852160" y="1828800"/>
            <a:ext cx="2834640" cy="411480"/>
          </a:xfrm>
          <a:prstGeom prst="rect">
            <a:avLst/>
          </a:prstGeom>
          <a:noFill/>
        </p:spPr>
        <p:txBody>
          <a:bodyPr wrap="square"/>
          <a:lstStyle/>
          <a:p>
            <a:pPr algn="l">
              <a:spcAft>
                <a:spcPts val="0"/>
              </a:spcAft>
              <a:defRPr sz="1100" b="0">
                <a:solidFill>
                  <a:srgbClr val="475569"/>
                </a:solidFill>
                <a:latin typeface="Arial" panose="020B0604020202020204"/>
              </a:defRPr>
            </a:pPr>
            <a:r>
              <a:t>用户请求</a:t>
            </a:r>
          </a:p>
        </p:txBody>
      </p:sp>
      <p:sp>
        <p:nvSpPr>
          <p:cNvPr id="13" name="Rounded Rectangle 12"/>
          <p:cNvSpPr/>
          <p:nvPr/>
        </p:nvSpPr>
        <p:spPr>
          <a:xfrm>
            <a:off x="4754880" y="2331720"/>
            <a:ext cx="1005840" cy="411480"/>
          </a:xfrm>
          <a:prstGeom prst="round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2331720"/>
            <a:ext cx="1005840" cy="411480"/>
          </a:xfrm>
          <a:prstGeom prst="rect">
            <a:avLst/>
          </a:prstGeom>
          <a:noFill/>
        </p:spPr>
        <p:txBody>
          <a:bodyPr wrap="square"/>
          <a:lstStyle/>
          <a:p>
            <a:pPr algn="ctr">
              <a:spcAft>
                <a:spcPts val="0"/>
              </a:spcAft>
              <a:defRPr sz="1000" b="1">
                <a:solidFill>
                  <a:srgbClr val="FFFFFF"/>
                </a:solidFill>
                <a:latin typeface="Arial" panose="020B0604020202020204"/>
              </a:defRPr>
            </a:pPr>
            <a:r>
              <a:t>Router</a:t>
            </a:r>
          </a:p>
        </p:txBody>
      </p:sp>
      <p:sp>
        <p:nvSpPr>
          <p:cNvPr id="15" name="TextBox 14"/>
          <p:cNvSpPr txBox="1"/>
          <p:nvPr/>
        </p:nvSpPr>
        <p:spPr>
          <a:xfrm>
            <a:off x="5852160" y="2331720"/>
            <a:ext cx="2834640" cy="411480"/>
          </a:xfrm>
          <a:prstGeom prst="rect">
            <a:avLst/>
          </a:prstGeom>
          <a:noFill/>
        </p:spPr>
        <p:txBody>
          <a:bodyPr wrap="square"/>
          <a:lstStyle/>
          <a:p>
            <a:pPr algn="l">
              <a:spcAft>
                <a:spcPts val="0"/>
              </a:spcAft>
              <a:defRPr sz="1100" b="0">
                <a:solidFill>
                  <a:srgbClr val="475569"/>
                </a:solidFill>
                <a:latin typeface="Arial" panose="020B0604020202020204"/>
              </a:defRPr>
            </a:pPr>
            <a:r>
              <a:t>LLM 分析意图</a:t>
            </a:r>
          </a:p>
        </p:txBody>
      </p:sp>
      <p:sp>
        <p:nvSpPr>
          <p:cNvPr id="16" name="Rounded Rectangle 15"/>
          <p:cNvSpPr/>
          <p:nvPr/>
        </p:nvSpPr>
        <p:spPr>
          <a:xfrm>
            <a:off x="4754880" y="2834640"/>
            <a:ext cx="1005840" cy="411480"/>
          </a:xfrm>
          <a:prstGeom prst="roundRect">
            <a:avLst/>
          </a:prstGeom>
          <a:solidFill>
            <a:srgbClr val="A26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0" y="2834640"/>
            <a:ext cx="1005840" cy="411480"/>
          </a:xfrm>
          <a:prstGeom prst="rect">
            <a:avLst/>
          </a:prstGeom>
          <a:noFill/>
        </p:spPr>
        <p:txBody>
          <a:bodyPr wrap="square"/>
          <a:lstStyle/>
          <a:p>
            <a:pPr algn="ctr">
              <a:spcAft>
                <a:spcPts val="0"/>
              </a:spcAft>
              <a:defRPr sz="1000" b="1">
                <a:solidFill>
                  <a:srgbClr val="FFFFFF"/>
                </a:solidFill>
                <a:latin typeface="Arial" panose="020B0604020202020204"/>
              </a:defRPr>
            </a:pPr>
            <a:r>
              <a:t>分支</a:t>
            </a:r>
          </a:p>
        </p:txBody>
      </p:sp>
      <p:sp>
        <p:nvSpPr>
          <p:cNvPr id="18" name="TextBox 17"/>
          <p:cNvSpPr txBox="1"/>
          <p:nvPr/>
        </p:nvSpPr>
        <p:spPr>
          <a:xfrm>
            <a:off x="5852160" y="2834640"/>
            <a:ext cx="2834640" cy="411480"/>
          </a:xfrm>
          <a:prstGeom prst="rect">
            <a:avLst/>
          </a:prstGeom>
          <a:noFill/>
        </p:spPr>
        <p:txBody>
          <a:bodyPr wrap="square"/>
          <a:lstStyle/>
          <a:p>
            <a:pPr algn="l">
              <a:spcAft>
                <a:spcPts val="0"/>
              </a:spcAft>
              <a:defRPr sz="1100" b="0">
                <a:solidFill>
                  <a:srgbClr val="475569"/>
                </a:solidFill>
                <a:latin typeface="Arial" panose="020B0604020202020204"/>
              </a:defRPr>
            </a:pPr>
            <a:r>
              <a:t>RunnableBranch</a:t>
            </a:r>
          </a:p>
        </p:txBody>
      </p:sp>
      <p:sp>
        <p:nvSpPr>
          <p:cNvPr id="19" name="Rounded Rectangle 18"/>
          <p:cNvSpPr/>
          <p:nvPr/>
        </p:nvSpPr>
        <p:spPr>
          <a:xfrm>
            <a:off x="4754880" y="3337560"/>
            <a:ext cx="1005840" cy="411480"/>
          </a:xfrm>
          <a:prstGeom prst="roundRect">
            <a:avLst/>
          </a:prstGeom>
          <a:solidFill>
            <a:srgbClr val="ECE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0" y="3337560"/>
            <a:ext cx="1005840" cy="411480"/>
          </a:xfrm>
          <a:prstGeom prst="rect">
            <a:avLst/>
          </a:prstGeom>
          <a:noFill/>
        </p:spPr>
        <p:txBody>
          <a:bodyPr wrap="square"/>
          <a:lstStyle/>
          <a:p>
            <a:pPr algn="ctr">
              <a:spcAft>
                <a:spcPts val="0"/>
              </a:spcAft>
              <a:defRPr sz="1000" b="1">
                <a:solidFill>
                  <a:srgbClr val="2F3C7E"/>
                </a:solidFill>
                <a:latin typeface="Arial" panose="020B0604020202020204"/>
              </a:defRPr>
            </a:pPr>
            <a:r>
              <a:t>输出</a:t>
            </a:r>
          </a:p>
        </p:txBody>
      </p:sp>
      <p:sp>
        <p:nvSpPr>
          <p:cNvPr id="21" name="TextBox 20"/>
          <p:cNvSpPr txBox="1"/>
          <p:nvPr/>
        </p:nvSpPr>
        <p:spPr>
          <a:xfrm>
            <a:off x="5852160" y="3337560"/>
            <a:ext cx="2834640" cy="411480"/>
          </a:xfrm>
          <a:prstGeom prst="rect">
            <a:avLst/>
          </a:prstGeom>
          <a:noFill/>
        </p:spPr>
        <p:txBody>
          <a:bodyPr wrap="square"/>
          <a:lstStyle/>
          <a:p>
            <a:pPr algn="l">
              <a:spcAft>
                <a:spcPts val="0"/>
              </a:spcAft>
              <a:defRPr sz="1100" b="0">
                <a:solidFill>
                  <a:srgbClr val="475569"/>
                </a:solidFill>
                <a:latin typeface="Arial" panose="020B0604020202020204"/>
              </a:defRPr>
            </a:pPr>
            <a:r>
              <a:t>Handler 结果</a:t>
            </a:r>
          </a:p>
        </p:txBody>
      </p:sp>
      <p:sp>
        <p:nvSpPr>
          <p:cNvPr id="22" name="TextBox 21"/>
          <p:cNvSpPr txBox="1"/>
          <p:nvPr/>
        </p:nvSpPr>
        <p:spPr>
          <a:xfrm>
            <a:off x="457200" y="2743200"/>
            <a:ext cx="3931920" cy="365760"/>
          </a:xfrm>
          <a:prstGeom prst="rect">
            <a:avLst/>
          </a:prstGeom>
          <a:noFill/>
        </p:spPr>
        <p:txBody>
          <a:bodyPr wrap="square"/>
          <a:lstStyle/>
          <a:p>
            <a:pPr algn="l">
              <a:spcAft>
                <a:spcPts val="0"/>
              </a:spcAft>
              <a:defRPr sz="1400" b="1">
                <a:solidFill>
                  <a:srgbClr val="2F3C7E"/>
                </a:solidFill>
                <a:latin typeface="Arial" panose="020B0604020202020204"/>
              </a:defRPr>
            </a:pPr>
            <a:r>
              <a:t>如何运行</a:t>
            </a:r>
          </a:p>
        </p:txBody>
      </p:sp>
      <p:sp>
        <p:nvSpPr>
          <p:cNvPr id="23" name="Rectangle 22"/>
          <p:cNvSpPr/>
          <p:nvPr/>
        </p:nvSpPr>
        <p:spPr>
          <a:xfrm>
            <a:off x="457200" y="3108960"/>
            <a:ext cx="8229600" cy="12801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200400"/>
            <a:ext cx="8046720" cy="1097280"/>
          </a:xfrm>
          <a:prstGeom prst="rect">
            <a:avLst/>
          </a:prstGeom>
          <a:noFill/>
        </p:spPr>
        <p:txBody>
          <a:bodyPr wrap="square"/>
          <a:lstStyle/>
          <a:p>
            <a:pPr algn="l">
              <a:spcAft>
                <a:spcPts val="0"/>
              </a:spcAft>
              <a:defRPr sz="1100" b="0">
                <a:solidFill>
                  <a:srgbClr val="E2E8F0"/>
                </a:solidFill>
                <a:latin typeface="Consolas" panose="020B0609020204030204"/>
              </a:defRPr>
            </a:pPr>
            <a:r>
              <a:t>python src/agents/patterns/routing.py</a:t>
            </a:r>
            <a:br/>
            <a:r>
              <a:t># 或在 start.bat 中选择选项 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5143500"/>
          </a:xfrm>
          <a:prstGeom prst="rect">
            <a:avLst/>
          </a:prstGeom>
          <a:solidFill>
            <a:srgbClr val="2F3C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0"/>
            <a:ext cx="8229600" cy="640080"/>
          </a:xfrm>
          <a:prstGeom prst="rect">
            <a:avLst/>
          </a:prstGeom>
          <a:noFill/>
        </p:spPr>
        <p:txBody>
          <a:bodyPr wrap="square"/>
          <a:lstStyle/>
          <a:p>
            <a:pPr algn="l">
              <a:spcAft>
                <a:spcPts val="0"/>
              </a:spcAft>
              <a:defRPr sz="3600" b="1">
                <a:solidFill>
                  <a:srgbClr val="FFFFFF"/>
                </a:solidFill>
                <a:latin typeface="Arial Black" panose="020B0A04020102020204"/>
              </a:defRPr>
            </a:pPr>
            <a:r>
              <a:t>总结</a:t>
            </a:r>
          </a:p>
        </p:txBody>
      </p:sp>
      <p:sp>
        <p:nvSpPr>
          <p:cNvPr id="4" name="Rectangle 3"/>
          <p:cNvSpPr/>
          <p:nvPr/>
        </p:nvSpPr>
        <p:spPr>
          <a:xfrm>
            <a:off x="457200" y="1280160"/>
            <a:ext cx="1828800" cy="54864"/>
          </a:xfrm>
          <a:prstGeom prst="rect">
            <a:avLst/>
          </a:prstGeom>
          <a:solidFill>
            <a:srgbClr val="ECE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57200" y="1645920"/>
            <a:ext cx="228600" cy="228600"/>
          </a:xfrm>
          <a:prstGeom prst="ellipse">
            <a:avLst/>
          </a:prstGeom>
          <a:solidFill>
            <a:srgbClr val="ECE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7772400" cy="457200"/>
          </a:xfrm>
          <a:prstGeom prst="rect">
            <a:avLst/>
          </a:prstGeom>
          <a:noFill/>
        </p:spPr>
        <p:txBody>
          <a:bodyPr wrap="square"/>
          <a:lstStyle/>
          <a:p>
            <a:pPr algn="l">
              <a:spcAft>
                <a:spcPts val="0"/>
              </a:spcAft>
              <a:defRPr sz="1400" b="0">
                <a:solidFill>
                  <a:srgbClr val="FFFFFF"/>
                </a:solidFill>
                <a:latin typeface="Arial" panose="020B0604020202020204"/>
              </a:defRPr>
            </a:pPr>
            <a:r>
              <a:t>Routing 使 Agent 能够根据条件动态选择执行路径</a:t>
            </a:r>
          </a:p>
        </p:txBody>
      </p:sp>
      <p:sp>
        <p:nvSpPr>
          <p:cNvPr id="7" name="Oval 6"/>
          <p:cNvSpPr/>
          <p:nvPr/>
        </p:nvSpPr>
        <p:spPr>
          <a:xfrm>
            <a:off x="457200" y="2286000"/>
            <a:ext cx="228600" cy="228600"/>
          </a:xfrm>
          <a:prstGeom prst="ellipse">
            <a:avLst/>
          </a:prstGeom>
          <a:solidFill>
            <a:srgbClr val="ECE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40280"/>
            <a:ext cx="7772400" cy="457200"/>
          </a:xfrm>
          <a:prstGeom prst="rect">
            <a:avLst/>
          </a:prstGeom>
          <a:noFill/>
        </p:spPr>
        <p:txBody>
          <a:bodyPr wrap="square"/>
          <a:lstStyle/>
          <a:p>
            <a:pPr algn="l">
              <a:spcAft>
                <a:spcPts val="0"/>
              </a:spcAft>
              <a:defRPr sz="1400" b="0">
                <a:solidFill>
                  <a:srgbClr val="FFFFFF"/>
                </a:solidFill>
                <a:latin typeface="Arial" panose="020B0604020202020204"/>
              </a:defRPr>
            </a:pPr>
            <a:r>
              <a:t>支持 LLM-based、Embedding-based、Rule-based 等多种实现方式</a:t>
            </a:r>
          </a:p>
        </p:txBody>
      </p:sp>
      <p:sp>
        <p:nvSpPr>
          <p:cNvPr id="9" name="Oval 8"/>
          <p:cNvSpPr/>
          <p:nvPr/>
        </p:nvSpPr>
        <p:spPr>
          <a:xfrm>
            <a:off x="457200" y="2926080"/>
            <a:ext cx="228600" cy="228600"/>
          </a:xfrm>
          <a:prstGeom prst="ellipse">
            <a:avLst/>
          </a:prstGeom>
          <a:solidFill>
            <a:srgbClr val="ECE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880360"/>
            <a:ext cx="7772400" cy="457200"/>
          </a:xfrm>
          <a:prstGeom prst="rect">
            <a:avLst/>
          </a:prstGeom>
          <a:noFill/>
        </p:spPr>
        <p:txBody>
          <a:bodyPr wrap="square"/>
          <a:lstStyle/>
          <a:p>
            <a:pPr algn="l">
              <a:spcAft>
                <a:spcPts val="0"/>
              </a:spcAft>
              <a:defRPr sz="1400" b="0">
                <a:solidFill>
                  <a:srgbClr val="FFFFFF"/>
                </a:solidFill>
                <a:latin typeface="Arial" panose="020B0604020202020204"/>
              </a:defRPr>
            </a:pPr>
            <a:r>
              <a:t>LangChain 使用 RunnableBranch 实现分支逻辑</a:t>
            </a:r>
          </a:p>
        </p:txBody>
      </p:sp>
      <p:sp>
        <p:nvSpPr>
          <p:cNvPr id="11" name="Oval 10"/>
          <p:cNvSpPr/>
          <p:nvPr/>
        </p:nvSpPr>
        <p:spPr>
          <a:xfrm>
            <a:off x="457200" y="3566159"/>
            <a:ext cx="228600" cy="228600"/>
          </a:xfrm>
          <a:prstGeom prst="ellipse">
            <a:avLst/>
          </a:prstGeom>
          <a:solidFill>
            <a:srgbClr val="ECE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520439"/>
            <a:ext cx="7772400" cy="457200"/>
          </a:xfrm>
          <a:prstGeom prst="rect">
            <a:avLst/>
          </a:prstGeom>
          <a:noFill/>
        </p:spPr>
        <p:txBody>
          <a:bodyPr wrap="square"/>
          <a:lstStyle/>
          <a:p>
            <a:pPr algn="l">
              <a:spcAft>
                <a:spcPts val="0"/>
              </a:spcAft>
              <a:defRPr sz="1400" b="0">
                <a:solidFill>
                  <a:srgbClr val="FFFFFF"/>
                </a:solidFill>
                <a:latin typeface="Arial" panose="020B0604020202020204"/>
              </a:defRPr>
            </a:pPr>
            <a:r>
              <a:t>适合需要多任务分发的智能系统场景</a:t>
            </a:r>
          </a:p>
        </p:txBody>
      </p:sp>
      <p:sp>
        <p:nvSpPr>
          <p:cNvPr id="13" name="TextBox 12"/>
          <p:cNvSpPr txBox="1"/>
          <p:nvPr/>
        </p:nvSpPr>
        <p:spPr>
          <a:xfrm>
            <a:off x="457200" y="4114800"/>
            <a:ext cx="8229600" cy="365760"/>
          </a:xfrm>
          <a:prstGeom prst="rect">
            <a:avLst/>
          </a:prstGeom>
          <a:noFill/>
        </p:spPr>
        <p:txBody>
          <a:bodyPr wrap="square"/>
          <a:lstStyle/>
          <a:p>
            <a:pPr algn="l">
              <a:spcAft>
                <a:spcPts val="0"/>
              </a:spcAft>
              <a:defRPr sz="1400" b="0">
                <a:solidFill>
                  <a:srgbClr val="ECE2D0"/>
                </a:solidFill>
                <a:latin typeface="Arial" panose="020B0604020202020204"/>
              </a:defRPr>
            </a:pPr>
            <a:r>
              <a:t>下一章: Parallelization (并行模式)</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1368</Words>
  <Application>WPS 演示</Application>
  <PresentationFormat>On-screen Show (4:3)</PresentationFormat>
  <Paragraphs>116</Paragraphs>
  <Slides>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vt:i4>
      </vt:variant>
    </vt:vector>
  </HeadingPairs>
  <TitlesOfParts>
    <vt:vector size="17" baseType="lpstr">
      <vt:lpstr>Arial</vt:lpstr>
      <vt:lpstr>宋体</vt:lpstr>
      <vt:lpstr>Wingdings</vt:lpstr>
      <vt:lpstr>Arial</vt:lpstr>
      <vt:lpstr>Arial Black</vt:lpstr>
      <vt:lpstr>Consolas</vt:lpstr>
      <vt:lpstr>Calibri</vt:lpstr>
      <vt:lpstr>微软雅黑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season雅宁</cp:lastModifiedBy>
  <cp:revision>2</cp:revision>
  <dcterms:created xsi:type="dcterms:W3CDTF">2013-01-27T09:14:00Z</dcterms:created>
  <dcterms:modified xsi:type="dcterms:W3CDTF">2026-02-19T17:35:47Z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32305617D8D845458F2D37014EABAD58_12</vt:lpwstr>
  </property>
  <property fmtid="{D5CDD505-2E9C-101B-9397-08002B2CF9AE}" pid="3" name="KSOProductBuildVer">
    <vt:lpwstr>2052-12.1.0.24655</vt:lpwstr>
  </property>
</Properties>
</file>