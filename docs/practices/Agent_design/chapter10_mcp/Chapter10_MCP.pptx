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9144000" cy="9144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Chapter 10: Model Context Protocol (MCP)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Standardized Context Communication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2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1. Background &amp; Motivation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2. Key Concepts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3. Comparison Analysis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4. Implementation Examples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5. Use Cases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6. Best Practices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7. Summary</a:t>
            </a:r>
          </a:p>
          <a:p>
            <a:pPr>
              <a:spcAft>
                <a:spcPts val="1200"/>
              </a:spcAft>
              <a:defRPr sz="2200">
                <a:solidFill>
                  <a:srgbClr val="323232"/>
                </a:solidFill>
              </a:defRPr>
            </a:pPr>
            <a:r>
              <a:t>8.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2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Background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371600" cy="457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Agent-tool communication lacks standardization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Different tools require different integration approaches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Context sharing between systems is fragmented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MCP provides a unified protocol for context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Anthropic's open standard for AI-tool interaction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2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Motivation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371600" cy="457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Standardize tool-agent communication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Enable interoperability across platforms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Simplify integration complexity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Provide consistent context management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Support tool discovery and capabilities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2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Key Concepts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371600" cy="457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MCP Server - Tool provider implementation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MCP Client - Agent integration layer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Resources - Files, data, and context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Prompts - Template management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Tools - Function execution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2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Comparison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28016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B40000"/>
                </a:solidFill>
              </a:defRPr>
            </a:pPr>
            <a:r>
              <a:t>Without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73736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Tool-specific implementations</a:t>
            </a:r>
          </a:p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High integration effort</a:t>
            </a:r>
          </a:p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Limited interoperability</a:t>
            </a:r>
          </a:p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Inconsistent interfaces</a:t>
            </a:r>
          </a:p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Maintenance burden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28016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8000"/>
                </a:solidFill>
              </a:defRPr>
            </a:pPr>
            <a:r>
              <a:t>With Pattern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73736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Standardized interfaces</a:t>
            </a:r>
          </a:p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Reduced integration effort</a:t>
            </a:r>
          </a:p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Cross-platform compatibility</a:t>
            </a:r>
          </a:p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Consistent context handling</a:t>
            </a:r>
          </a:p>
          <a:p>
            <a:pPr>
              <a:spcAft>
                <a:spcPts val="600"/>
              </a:spcAft>
              <a:defRPr sz="1400">
                <a:solidFill>
                  <a:srgbClr val="505050"/>
                </a:solidFill>
              </a:defRPr>
            </a:pPr>
            <a:r>
              <a:t>* Community ecosystem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2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Use Cases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371600" cy="457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File system access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Database integration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API connectivity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Development tools</a:t>
            </a:r>
          </a:p>
          <a:p>
            <a:pPr>
              <a:spcAft>
                <a:spcPts val="1000"/>
              </a:spcAft>
              <a:defRPr sz="1800">
                <a:solidFill>
                  <a:srgbClr val="323232"/>
                </a:solidFill>
              </a:defRPr>
            </a:pPr>
            <a:r>
              <a:t>* Enterprise systems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2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Code Example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8229600" cy="137160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78638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0FF80"/>
                </a:solidFill>
                <a:latin typeface="Consolas"/>
              </a:defRPr>
            </a:pPr>
            <a:r>
              <a:t>$ python src/agents/patterns/mcp.py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9144000" cy="457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[OK] Understand the problem context and motivation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[OK] Apply the pattern when conditions are met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[OK] Compare trade-offs before implementation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[OK] Follow best practices for optimal results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[OK] Monitor and iterate for continuous improvement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25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9144000" cy="457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[1] Anthropic MCP Specification, https://modelcontextprotocol.io/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[2] MCP Documentation, https://docs.anthropic.com/claude/docs/mcp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[3] Claude Desktop MCP, https://github.com/modelcontextprotocol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[4] OpenAI Function Calling, https://platform.openai.com/docs/guides/function-calling</a:t>
            </a:r>
          </a:p>
          <a:p>
            <a:pPr>
              <a:spcAft>
                <a:spcPts val="800"/>
              </a:spcAft>
              <a:defRPr sz="1200">
                <a:solidFill>
                  <a:srgbClr val="FFFFFF"/>
                </a:solidFill>
              </a:defRPr>
            </a:pPr>
            <a:r>
              <a:t>[5] JSON-RPC 2.0 Specification, https://www.jsonrpc.org/specification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