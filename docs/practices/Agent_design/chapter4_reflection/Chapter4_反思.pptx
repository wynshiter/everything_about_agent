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</p:sldIdLst>
  <p:sldSz cx="9144000" cy="64008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457200" y="1828800"/>
            <a:ext cx="82296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Chapter 4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2377440"/>
            <a:ext cx="8229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4000" b="1">
                <a:solidFill>
                  <a:srgbClr val="FFFFFF"/>
                </a:solidFill>
              </a:defRPr>
            </a:pPr>
            <a:r>
              <a:t>Chapter 4: Reflection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33832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>
                <a:solidFill>
                  <a:srgbClr val="FFFFFF"/>
                </a:solidFill>
              </a:defRPr>
            </a:pPr>
            <a:r>
              <a:t>反思模式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背景与动机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即使使用复杂的工作流，Agent的初始输出可能不是最优的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缺乏内置的自我纠错机制，错误可能被传递到最终输出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反思模式允许Agent评估自己的工作并改进性能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这是一种自我纠正或自我改进的形式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通过迭代优化实现更高质量的输出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核心概念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执行: Agent执行任务或生成初始输出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评估/批评: 分析结果，检查准确性、完整性等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反思/改进: 基于批评确定如何改进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迭代: 重复执行直到达到满意结果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对比分析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457200" y="1371600"/>
          <a:ext cx="8229600" cy="4114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2743200"/>
                <a:gridCol w="2743200"/>
              </a:tblGrid>
              <a:tr h="685800"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对比维度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单次执行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 b="1">
                          <a:solidFill>
                            <a:srgbClr val="FFFFFF"/>
                          </a:solidFill>
                        </a:defRPr>
                      </a:pPr>
                      <a:r>
                        <a:t>反思模式</a:t>
                      </a:r>
                    </a:p>
                  </a:txBody>
                  <a:tcPr>
                    <a:solidFill>
                      <a:srgbClr val="9B59B6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输出质量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依赖初始生成质量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通过迭代逐步提高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执行成本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单次LLM调用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多次LLM调用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延迟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较低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较高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适用场景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简单任务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需要高质量输出的任务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685800"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可靠性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中等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400">
                          <a:solidFill>
                            <a:srgbClr val="323232"/>
                          </a:solidFill>
                        </a:defRPr>
                      </a:pPr>
                      <a:r>
                        <a:t>更高，有自我纠错能力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LangChain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反思循环实现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max_iterations = 3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for i in range(max_iterations):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# 生成/改进阶段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response = llm.invoke(message_history)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current_code = response.content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# 反思阶段 - 使用不同的系统提示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reflector_prompt = [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SystemMessage(content="你是资深软件工程师，进行代码审查..."),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HumanMessage(content=f"代码:\n{current_code}")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critique = llm.invoke(reflector_prompt)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# 检查是否完美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if "CODE_IS_PERFECT" in critique.content: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    break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FFFFF"/>
                </a:solidFill>
              </a:defRPr>
            </a:pPr>
            <a:r>
              <a:t>代码实现 - Google ADK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8595360" cy="4846320"/>
          </a:xfrm>
          <a:prstGeom prst="roundRect">
            <a:avLst/>
          </a:prstGeom>
          <a:solidFill>
            <a:srgbClr val="282C3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from google.adk.agents import SequentialAgent, LlmAgent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Generator Agent - 生成初始草稿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generator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name="DraftWriter",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instruction="Write a short paragraph about the subject.",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output_key="draft_text"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Reviewer Agent - 批评和审查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reviewer = LlmAgent(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name="FactChecker",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instruction="""Review text in 'draft_text' for accuracy.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Output: {"status": "ACCURATE/INACCURATE", "reasoning": "..."}""",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output_key="review_output"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# 顺序执行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pipeline = SequentialAgent(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name="WriteAndReview_Pipeline",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    sub_agents=[generator, reviewer]</a:t>
            </a:r>
          </a:p>
          <a:p>
            <a:pPr>
              <a:spcAft>
                <a:spcPts val="200"/>
              </a:spcAft>
              <a:defRPr sz="1100">
                <a:solidFill>
                  <a:srgbClr val="ABB2BF"/>
                </a:solidFill>
                <a:latin typeface="Consolas"/>
              </a:defRPr>
            </a:pPr>
            <a:r>
              <a:t>)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实践应用案例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创意写作: 生成草稿、批评、重写直到满意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代码生成: 编写代码、识别错误、修复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复杂问题求解: 评估中间步骤、回溯、调整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摘要生成: 生成摘要、比较原文、改进</a:t>
            </a:r>
          </a:p>
          <a:p>
            <a:pPr>
              <a:spcAft>
                <a:spcPts val="1200"/>
              </a:spcAft>
              <a:defRPr sz="1800">
                <a:solidFill>
                  <a:srgbClr val="323232"/>
                </a:solidFill>
              </a:defRPr>
            </a:pPr>
            <a:r>
              <a:t>• 规划策略: 生成计划、评估可行性、修订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总结：优势与注意事项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274320" y="1280160"/>
            <a:ext cx="4206240" cy="4846320"/>
          </a:xfrm>
          <a:prstGeom prst="roundRect">
            <a:avLst/>
          </a:prstGeom>
          <a:solidFill>
            <a:srgbClr val="E8F5E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45720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2E7D32"/>
                </a:solidFill>
              </a:defRPr>
            </a:pPr>
            <a:r>
              <a:t>✓ 核心优势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迭代自纠错，提高输出质量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更高的准确性和对复杂指令的遵循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Producer-Critic模型增强客观性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4663440" y="1280160"/>
            <a:ext cx="4206240" cy="4846320"/>
          </a:xfrm>
          <a:prstGeom prst="roundRect">
            <a:avLst/>
          </a:prstGeom>
          <a:solidFill>
            <a:srgbClr val="FFF3E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4846320" y="1371600"/>
            <a:ext cx="384048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 b="1">
                <a:solidFill>
                  <a:srgbClr val="E65100"/>
                </a:solidFill>
              </a:defRPr>
            </a:pPr>
            <a:r>
              <a:t>⚠ 注意事项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46320" y="1920240"/>
            <a:ext cx="3840480" cy="3657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增加延迟和计算成本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每次迭代扩展对话历史，可能超出上下文窗口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需要设置停止条件防止无限循环</a:t>
            </a:r>
          </a:p>
          <a:p>
            <a:pPr>
              <a:spcAft>
                <a:spcPts val="1000"/>
              </a:spcAft>
              <a:defRPr sz="1400">
                <a:solidFill>
                  <a:srgbClr val="323232"/>
                </a:solidFill>
              </a:defRPr>
            </a:pPr>
            <a:r>
              <a:t>• 与Goal Setting和Memory模式协同效果更佳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0"/>
          </a:xfrm>
          <a:prstGeom prst="rect">
            <a:avLst/>
          </a:prstGeom>
          <a:solidFill>
            <a:srgbClr val="F5F5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9144000" cy="1097280"/>
          </a:xfrm>
          <a:prstGeom prst="rect">
            <a:avLst/>
          </a:prstGeom>
          <a:solidFill>
            <a:srgbClr val="2C3E5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457200" y="274320"/>
            <a:ext cx="82296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FFFFF"/>
                </a:solidFill>
              </a:defRPr>
            </a:pPr>
            <a:r>
              <a:t>参考文献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1371600"/>
            <a:ext cx="822960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[1] Training LLMs to Self-Correct: https://arxiv.org/abs/2409.12917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[2] LangChain LCEL Documentation: https://python.langchain.com/docs/introduction/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[3] LangGraph Documentation: https://www.langchain.com/langgraph</a:t>
            </a:r>
          </a:p>
          <a:p>
            <a:pPr>
              <a:spcAft>
                <a:spcPts val="1200"/>
              </a:spcAft>
              <a:defRPr sz="1400">
                <a:solidFill>
                  <a:srgbClr val="323232"/>
                </a:solidFill>
              </a:defRPr>
            </a:pPr>
            <a:r>
              <a:t>[4] Google ADK Documentation: https://google.github.io/adk-docs/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