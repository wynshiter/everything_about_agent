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2286000"/>
            <a:ext cx="12801600" cy="2743200"/>
          </a:xfrm>
          <a:prstGeom prst="parallelogram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762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986CB"/>
                </a:solidFill>
                <a:latin typeface="Arial"/>
              </a:defRPr>
            </a:pPr>
            <a: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Self-Evaluation and Iterative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2540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7E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7E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7E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7E"/>
                </a:solidFill>
                <a:latin typeface="Arial"/>
              </a:defRPr>
            </a:pPr>
            <a:r>
              <a:t>Implementation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7E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37E"/>
                </a:solidFill>
                <a:latin typeface="Arial"/>
              </a:defRPr>
            </a:pPr>
            <a:r>
              <a:t>Summary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LLM outputs can contain errors or inconsistencies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Single-pass generation often produces suboptimal results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Humans naturally review and refine work iteratively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Self-correction improves output quality significantly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Reflection enables agents to learn from own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F51B5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Initial outputs may be incomplete or incorrect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Quality requirements demand iterative refinement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Complex tasks benefit from multiple passes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Self-evaluation reduces human oversight needs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Continuous improvement is essential for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F51B5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76200" cy="1188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970"/>
                </a:solidFill>
                <a:latin typeface="Arial"/>
              </a:defRPr>
            </a:pPr>
            <a:r>
              <a:t>Self-Critique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37E"/>
                </a:solidFill>
                <a:latin typeface="Arial"/>
              </a:defRPr>
            </a:pPr>
            <a:r>
              <a:t>Agent evaluates its own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76200" cy="1188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970"/>
                </a:solidFill>
                <a:latin typeface="Arial"/>
              </a:defRPr>
            </a:pPr>
            <a:r>
              <a:t>Iterative Refinement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37E"/>
                </a:solidFill>
                <a:latin typeface="Arial"/>
              </a:defRPr>
            </a:pPr>
            <a:r>
              <a:t>Multiple improvement cycles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76200" cy="1188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970"/>
                </a:solidFill>
                <a:latin typeface="Arial"/>
              </a:defRPr>
            </a:pPr>
            <a:r>
              <a:t>Quality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37E"/>
                </a:solidFill>
                <a:latin typeface="Arial"/>
              </a:defRPr>
            </a:pPr>
            <a:r>
              <a:t>Define success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926080"/>
            <a:ext cx="76200" cy="1188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970"/>
                </a:solidFill>
                <a:latin typeface="Arial"/>
              </a:defRPr>
            </a:pPr>
            <a:r>
              <a:t>Feedback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37E"/>
                </a:solidFill>
                <a:latin typeface="Arial"/>
              </a:defRPr>
            </a:pPr>
            <a:r>
              <a:t>Continuous improvement mechanism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976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76200" cy="1188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970"/>
                </a:solidFill>
                <a:latin typeface="Arial"/>
              </a:defRPr>
            </a:pPr>
            <a:r>
              <a:t>Stopping 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37E"/>
                </a:solidFill>
                <a:latin typeface="Arial"/>
              </a:defRPr>
            </a:pPr>
            <a:r>
              <a:t>When to end reflection cycles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F51B5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Without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Fast single LLM call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No iteration overhead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Lower cost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May be suboptimal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Limited error correction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Multiple evaluation cycles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0632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Higher cost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Self-critique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44348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Better quality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51206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37E"/>
                </a:solidFill>
                <a:latin typeface="Arial"/>
              </a:defRPr>
            </a:pPr>
            <a:r>
              <a:t>Handles complexity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F51B5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Code review &amp; debugging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Content editing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Math verification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Logic checking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37E"/>
                </a:solidFill>
                <a:latin typeface="Arial"/>
              </a:defRPr>
            </a:pPr>
            <a:r>
              <a:t>QA for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F51B5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ourier New"/>
              </a:defRPr>
            </a:pPr>
            <a:r>
              <a:t>$ python src/agents/patterns/reflection.py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237E"/>
                </a:solidFill>
                <a:latin typeface="Arial"/>
              </a:defRPr>
            </a:pPr>
            <a:r>
              <a:t>Run this command to execute the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7680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237E"/>
                </a:solidFill>
                <a:latin typeface="Arial"/>
              </a:defRPr>
            </a:pPr>
            <a:r>
              <a:t>Features: LangChain LCEL | Google ADK | Async Support |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F51B5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486400" y="0"/>
            <a:ext cx="5486400" cy="6858000"/>
          </a:xfrm>
          <a:prstGeom prst="parallelogram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" cy="365760"/>
          </a:xfrm>
          <a:prstGeom prst="round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7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Understand the problem context and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" cy="365760"/>
          </a:xfrm>
          <a:prstGeom prst="round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7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Apply the pattern when conditions are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7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Compare trade-offs before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65760" cy="365760"/>
          </a:xfrm>
          <a:prstGeom prst="round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7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Follow best practices for optimal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" cy="365760"/>
          </a:xfrm>
          <a:prstGeom prst="round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7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Monitor and iterate for 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3657600"/>
            <a:ext cx="5486400" cy="3657600"/>
          </a:xfrm>
          <a:prstGeom prst="parallelogram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[1] Shinn, N., et al. (2023). Reflexion: Language Agents with Verbal RL. NeurIPS.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[2] Madaan, A., et al. (2023). Self-Refine: Iterative Refinement. NeurIPS.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[3] Wei, J., et al. (2022). Chain-of-Thought Prompting Elicits Reasoning. NeurIPS.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[4] Paul, D., et al. (2023). Reflexion. arXiv:2303.11366.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[5] OpenAI GPT-4 Technical Report - openai.com/research/gpt-4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