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1828800" y="2286000"/>
            <a:ext cx="12801600" cy="2743200"/>
          </a:xfrm>
          <a:prstGeom prst="parallelogram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2743200"/>
            <a:ext cx="1828800" cy="7620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DB6AC"/>
                </a:solidFill>
                <a:latin typeface="Arial"/>
              </a:defRPr>
            </a:pPr>
            <a:r>
              <a:t>CHAPTER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Memory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t>Persistent Context and Learning for Agents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17920"/>
            <a:ext cx="9144000" cy="25400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6350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4D40"/>
                </a:solidFill>
                <a:latin typeface="Arial"/>
              </a:defRPr>
            </a:pPr>
            <a:r>
              <a:t>Background &amp; Motivation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331720"/>
            <a:ext cx="457200" cy="45720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23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4D40"/>
                </a:solidFill>
                <a:latin typeface="Arial"/>
              </a:defRPr>
            </a:pPr>
            <a:r>
              <a:t>Key Concepts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08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4D40"/>
                </a:solidFill>
                <a:latin typeface="Arial"/>
              </a:defRPr>
            </a:pPr>
            <a:r>
              <a:t>Comparison Analysis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703320"/>
            <a:ext cx="457200" cy="45720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94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94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4D40"/>
                </a:solidFill>
                <a:latin typeface="Arial"/>
              </a:defRPr>
            </a:pPr>
            <a:r>
              <a:t>Implementation Examples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389120"/>
            <a:ext cx="457200" cy="45720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480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80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4D40"/>
                </a:solidFill>
                <a:latin typeface="Arial"/>
              </a:defRPr>
            </a:pPr>
            <a:r>
              <a:t>Use Cases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5074920"/>
            <a:ext cx="457200" cy="45720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166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166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4D40"/>
                </a:solidFill>
                <a:latin typeface="Arial"/>
              </a:defRPr>
            </a:pPr>
            <a:r>
              <a:t>Summary &amp;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6350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01600" cy="5029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164592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4D40"/>
                </a:solidFill>
                <a:latin typeface="Arial"/>
              </a:defRPr>
            </a:pPr>
            <a:r>
              <a:t>LLMs have limited context windows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37744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4D40"/>
                </a:solidFill>
                <a:latin typeface="Arial"/>
              </a:defRPr>
            </a:pPr>
            <a:r>
              <a:t>Conversation history grows unbounded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10896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4D40"/>
                </a:solidFill>
                <a:latin typeface="Arial"/>
              </a:defRPr>
            </a:pPr>
            <a:r>
              <a:t>Agents need to remember past interactions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84048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4D40"/>
                </a:solidFill>
                <a:latin typeface="Arial"/>
              </a:defRPr>
            </a:pPr>
            <a:r>
              <a:t>Learning from experience requires memory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57200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805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4D40"/>
                </a:solidFill>
                <a:latin typeface="Arial"/>
              </a:defRPr>
            </a:pPr>
            <a:r>
              <a:t>Context management is crucial for coherence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009688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6350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01600" cy="5029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164592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4D40"/>
                </a:solidFill>
                <a:latin typeface="Arial"/>
              </a:defRPr>
            </a:pPr>
            <a:r>
              <a:t>Maintain conversation continuity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37744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4D40"/>
                </a:solidFill>
                <a:latin typeface="Arial"/>
              </a:defRPr>
            </a:pPr>
            <a:r>
              <a:t>Store and retrieve relevant information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10896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4D40"/>
                </a:solidFill>
                <a:latin typeface="Arial"/>
              </a:defRPr>
            </a:pPr>
            <a:r>
              <a:t>Learn from past experiences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84048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4D40"/>
                </a:solidFill>
                <a:latin typeface="Arial"/>
              </a:defRPr>
            </a:pPr>
            <a:r>
              <a:t>Personalize user interactions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57200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805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4D40"/>
                </a:solidFill>
                <a:latin typeface="Arial"/>
              </a:defRPr>
            </a:pPr>
            <a:r>
              <a:t>Enable long-term agent capabilities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009688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Key Concepts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6350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554480"/>
            <a:ext cx="4023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76200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080"/>
                </a:solidFill>
                <a:latin typeface="Arial"/>
              </a:defRPr>
            </a:pPr>
            <a:r>
              <a:t>Short-term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4D40"/>
                </a:solidFill>
                <a:latin typeface="Arial"/>
              </a:defRPr>
            </a:pPr>
            <a:r>
              <a:t>Immediate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554480"/>
            <a:ext cx="4023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554480"/>
            <a:ext cx="76200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080"/>
                </a:solidFill>
                <a:latin typeface="Arial"/>
              </a:defRPr>
            </a:pPr>
            <a:r>
              <a:t>Long-term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057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4D40"/>
                </a:solidFill>
                <a:latin typeface="Arial"/>
              </a:defRPr>
            </a:pPr>
            <a:r>
              <a:t>Persistent storage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926080"/>
            <a:ext cx="4023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76200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080"/>
                </a:solidFill>
                <a:latin typeface="Arial"/>
              </a:defRPr>
            </a:pPr>
            <a:r>
              <a:t>Retrieval Mechanisms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29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4D40"/>
                </a:solidFill>
                <a:latin typeface="Arial"/>
              </a:defRPr>
            </a:pPr>
            <a:r>
              <a:t>Finding relevant memories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926080"/>
            <a:ext cx="4023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0" y="2926080"/>
            <a:ext cx="76200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080"/>
                </a:solidFill>
                <a:latin typeface="Arial"/>
              </a:defRPr>
            </a:pPr>
            <a:r>
              <a:t>Memory Consolidation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429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4D40"/>
                </a:solidFill>
                <a:latin typeface="Arial"/>
              </a:defRPr>
            </a:pPr>
            <a:r>
              <a:t>Information synthesis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4297680"/>
            <a:ext cx="4023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297680"/>
            <a:ext cx="76200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434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080"/>
                </a:solidFill>
                <a:latin typeface="Arial"/>
              </a:defRPr>
            </a:pPr>
            <a:r>
              <a:t>Forgetting Strategies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00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4D40"/>
                </a:solidFill>
                <a:latin typeface="Arial"/>
              </a:defRPr>
            </a:pPr>
            <a:r>
              <a:t>Managing memory limits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009688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Comparison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4114800" cy="54864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Without Pattern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463040"/>
            <a:ext cx="4114800" cy="5486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With Pattern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103120"/>
            <a:ext cx="411480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2377440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4D40"/>
                </a:solidFill>
                <a:latin typeface="Arial"/>
              </a:defRPr>
            </a:pPr>
            <a:r>
              <a:t>Independent interactions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063240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4D40"/>
                </a:solidFill>
                <a:latin typeface="Arial"/>
              </a:defRPr>
            </a:pPr>
            <a:r>
              <a:t>No learning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749040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4D40"/>
                </a:solidFill>
                <a:latin typeface="Arial"/>
              </a:defRPr>
            </a:pPr>
            <a:r>
              <a:t>Limited context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4434840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43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4D40"/>
                </a:solidFill>
                <a:latin typeface="Arial"/>
              </a:defRPr>
            </a:pPr>
            <a:r>
              <a:t>Redundant requests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5120640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4D40"/>
                </a:solidFill>
                <a:latin typeface="Arial"/>
              </a:defRPr>
            </a:pPr>
            <a:r>
              <a:t>Poor personalization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2103120"/>
            <a:ext cx="411480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937760" y="237744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22860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4D40"/>
                </a:solidFill>
                <a:latin typeface="Arial"/>
              </a:defRPr>
            </a:pPr>
            <a:r>
              <a:t>Persistent context</a:t>
            </a:r>
          </a:p>
        </p:txBody>
      </p:sp>
      <p:sp>
        <p:nvSpPr>
          <p:cNvPr id="23" name="Oval 22"/>
          <p:cNvSpPr/>
          <p:nvPr/>
        </p:nvSpPr>
        <p:spPr>
          <a:xfrm>
            <a:off x="4937760" y="306324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0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4D40"/>
                </a:solidFill>
                <a:latin typeface="Arial"/>
              </a:defRPr>
            </a:pPr>
            <a:r>
              <a:t>Accumulated knowledge</a:t>
            </a:r>
          </a:p>
        </p:txBody>
      </p:sp>
      <p:sp>
        <p:nvSpPr>
          <p:cNvPr id="25" name="Oval 24"/>
          <p:cNvSpPr/>
          <p:nvPr/>
        </p:nvSpPr>
        <p:spPr>
          <a:xfrm>
            <a:off x="4937760" y="374904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3657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4D40"/>
                </a:solidFill>
                <a:latin typeface="Arial"/>
              </a:defRPr>
            </a:pPr>
            <a:r>
              <a:t>Contextual awareness</a:t>
            </a:r>
          </a:p>
        </p:txBody>
      </p:sp>
      <p:sp>
        <p:nvSpPr>
          <p:cNvPr id="27" name="Oval 26"/>
          <p:cNvSpPr/>
          <p:nvPr/>
        </p:nvSpPr>
        <p:spPr>
          <a:xfrm>
            <a:off x="4937760" y="443484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4343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4D40"/>
                </a:solidFill>
                <a:latin typeface="Arial"/>
              </a:defRPr>
            </a:pPr>
            <a:r>
              <a:t>Efficient reuse</a:t>
            </a:r>
          </a:p>
        </p:txBody>
      </p:sp>
      <p:sp>
        <p:nvSpPr>
          <p:cNvPr id="29" name="Oval 28"/>
          <p:cNvSpPr/>
          <p:nvPr/>
        </p:nvSpPr>
        <p:spPr>
          <a:xfrm>
            <a:off x="4937760" y="512064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4D40"/>
                </a:solidFill>
                <a:latin typeface="Arial"/>
              </a:defRPr>
            </a:pPr>
            <a:r>
              <a:t>Personalized responses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009688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Use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6350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01600" cy="5029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164592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4D40"/>
                </a:solidFill>
                <a:latin typeface="Arial"/>
              </a:defRPr>
            </a:pPr>
            <a:r>
              <a:t>Conversational AI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37744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4D40"/>
                </a:solidFill>
                <a:latin typeface="Arial"/>
              </a:defRPr>
            </a:pPr>
            <a:r>
              <a:t>Personalized recommendations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10896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4D40"/>
                </a:solidFill>
                <a:latin typeface="Arial"/>
              </a:defRPr>
            </a:pPr>
            <a:r>
              <a:t>Knowledge base integration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84048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4D40"/>
                </a:solidFill>
                <a:latin typeface="Arial"/>
              </a:defRPr>
            </a:pPr>
            <a:r>
              <a:t>Learning from feedback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57200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805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4D40"/>
                </a:solidFill>
                <a:latin typeface="Arial"/>
              </a:defRPr>
            </a:pPr>
            <a:r>
              <a:t>Context-aware apps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009688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Code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7680960" cy="1828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EC9B0"/>
                </a:solidFill>
                <a:latin typeface="Courier New"/>
              </a:defRPr>
            </a:pPr>
            <a:r>
              <a:t>$ python src/agents/patterns/memory.py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4D40"/>
                </a:solidFill>
                <a:latin typeface="Arial"/>
              </a:defRPr>
            </a:pPr>
            <a:r>
              <a:t>Run this command to execute the 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76809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4D40"/>
                </a:solidFill>
                <a:latin typeface="Arial"/>
              </a:defRPr>
            </a:pPr>
            <a:r>
              <a:t>Features: LangChain LCEL | Google ADK | Async Support | Error Handling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009688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5486400" y="0"/>
            <a:ext cx="5486400" cy="6858000"/>
          </a:xfrm>
          <a:prstGeom prst="parallelogram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828800" cy="6350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65760" cy="365760"/>
          </a:xfrm>
          <a:prstGeom prst="round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8080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Understand the problem context and motivation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365760" cy="365760"/>
          </a:xfrm>
          <a:prstGeom prst="round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8080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31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Apply the pattern when conditions are met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365760" cy="365760"/>
          </a:xfrm>
          <a:prstGeom prst="round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1546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8080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54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Compare trade-offs before implementation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365760" cy="365760"/>
          </a:xfrm>
          <a:prstGeom prst="round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77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8080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977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Follow best practices for optimal results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54880"/>
            <a:ext cx="365760" cy="365760"/>
          </a:xfrm>
          <a:prstGeom prst="round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00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8080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00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Monitor and iterate for continuous improvement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1828800" y="3657600"/>
            <a:ext cx="5486400" cy="3657600"/>
          </a:xfrm>
          <a:prstGeom prst="parallelogram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828800" cy="6350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[1] Zhong, Z., et al. (2023). MemoryBank. arXiv:2305.10250.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[2] LangChain Memory - python.langchain.com/docs/modules/memory/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[3] Baddeley, A. (1992). Working Memory. Science.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[4] Eichenbaum, H. (2017). Memory: Organization and Control. Annual Review.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[5] Memorizing Transformers - arxiv.org/abs/2203.08926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