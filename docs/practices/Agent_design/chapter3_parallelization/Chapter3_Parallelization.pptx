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2286000"/>
            <a:ext cx="12801600" cy="2743200"/>
          </a:xfrm>
          <a:prstGeom prst="parallelogram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743200"/>
            <a:ext cx="1828800" cy="762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B6AC"/>
                </a:solidFill>
                <a:latin typeface="Arial"/>
              </a:defRPr>
            </a:pPr>
            <a:r>
              <a:t>CHAPTER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Parallelization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Concurrent Execution for Agent Efficiency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9144000" cy="2540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Implementation Examples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0749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Summary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Sequential execution creates bottlenecks in complex workflows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Multiple independent sub-tasks often need simultaneous processing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API calls and I/O operations introduce significant latency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Modern agentic frameworks support native parallel execution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Parallelization reduces total execution time dramatically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Total time = sum of all task durations (sequential)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User experience degrades with long wait times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Resource utilization remains suboptimal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Independent tasks should not block each other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Scalability demands concurrent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76200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  <a:latin typeface="Arial"/>
              </a:defRPr>
            </a:pPr>
            <a:r>
              <a:t>RunnableParallel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4D40"/>
                </a:solidFill>
                <a:latin typeface="Arial"/>
              </a:defRPr>
            </a:pPr>
            <a:r>
              <a:t>LangChain's parallel execution construct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76200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  <a:latin typeface="Arial"/>
              </a:defRPr>
            </a:pPr>
            <a:r>
              <a:t>ParallelAgent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4D40"/>
                </a:solidFill>
                <a:latin typeface="Arial"/>
              </a:defRPr>
            </a:pPr>
            <a:r>
              <a:t>Google ADK's concurrent agent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76200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  <a:latin typeface="Arial"/>
              </a:defRPr>
            </a:pPr>
            <a:r>
              <a:t>asyncio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4D40"/>
                </a:solidFill>
                <a:latin typeface="Arial"/>
              </a:defRPr>
            </a:pPr>
            <a:r>
              <a:t>Python's asynchronous I/O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926080"/>
            <a:ext cx="76200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  <a:latin typeface="Arial"/>
              </a:defRPr>
            </a:pPr>
            <a:r>
              <a:t>Dependency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4D40"/>
                </a:solidFill>
                <a:latin typeface="Arial"/>
              </a:defRPr>
            </a:pPr>
            <a:r>
              <a:t>Identify independent task clusters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2976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297680"/>
            <a:ext cx="76200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  <a:latin typeface="Arial"/>
              </a:defRPr>
            </a:pPr>
            <a:r>
              <a:t>Result Aggregation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4D40"/>
                </a:solidFill>
                <a:latin typeface="Arial"/>
              </a:defRPr>
            </a:pPr>
            <a:r>
              <a:t>Combine parallel 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11480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Without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411480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3774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Simple to implement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632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Predictable order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Lower resources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4348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T1 + T2 + T3...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1206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For dependent tasks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760" y="23774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Complex error handling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0" y="30632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Race conditions possible</a:t>
            </a:r>
          </a:p>
        </p:txBody>
      </p:sp>
      <p:sp>
        <p:nvSpPr>
          <p:cNvPr id="25" name="Oval 24"/>
          <p:cNvSpPr/>
          <p:nvPr/>
        </p:nvSpPr>
        <p:spPr>
          <a:xfrm>
            <a:off x="4937760" y="37490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Higher consumption</a:t>
            </a:r>
          </a:p>
        </p:txBody>
      </p:sp>
      <p:sp>
        <p:nvSpPr>
          <p:cNvPr id="27" name="Oval 26"/>
          <p:cNvSpPr/>
          <p:nvPr/>
        </p:nvSpPr>
        <p:spPr>
          <a:xfrm>
            <a:off x="4937760" y="44348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max(T1, T2, T3...)</a:t>
            </a:r>
          </a:p>
        </p:txBody>
      </p:sp>
      <p:sp>
        <p:nvSpPr>
          <p:cNvPr id="29" name="Oval 28"/>
          <p:cNvSpPr/>
          <p:nvPr/>
        </p:nvSpPr>
        <p:spPr>
          <a:xfrm>
            <a:off x="4937760" y="51206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For independent tasks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Multi-source info gathering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Concurrent API calls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Parallel data processing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Multi-modal generation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Distributed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B0"/>
                </a:solidFill>
                <a:latin typeface="Courier New"/>
              </a:defRPr>
            </a:pPr>
            <a:r>
              <a:t>$ python src/agents/patterns/parallelization.py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4D40"/>
                </a:solidFill>
                <a:latin typeface="Arial"/>
              </a:defRPr>
            </a:pPr>
            <a:r>
              <a:t>Run this command to execute the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76809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4D40"/>
                </a:solidFill>
                <a:latin typeface="Arial"/>
              </a:defRPr>
            </a:pPr>
            <a:r>
              <a:t>Features: LangChain LCEL | Google ADK | Async Support | Error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486400" y="0"/>
            <a:ext cx="5486400" cy="6858000"/>
          </a:xfrm>
          <a:prstGeom prst="parallelogram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" cy="36576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8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Understand the problem context and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65760" cy="36576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8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Apply the pattern when conditions are 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365760" cy="36576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8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Compare trade-offs before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65760" cy="36576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8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Follow best practices for optimal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365760" cy="36576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8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Monitor and iterate for continuous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3657600"/>
            <a:ext cx="5486400" cy="3657600"/>
          </a:xfrm>
          <a:prstGeom prst="parallelogram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[1] LangChain LCEL Documentation - python.langchain.com/docs/concepts/lcel/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[2] Google ADK Multi-Agent Systems - google.github.io/adk-docs/agents/multi-agents/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[3] Python asyncio Documentation - docs.python.org/3/library/asyncio.html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[4] Dean, J., &amp; Barroso, L. A. (2013). The Tail at Scale. CACM.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[5] Herlihy, M., &amp; Shavit, N. (2012). Art of Multiprocessor Programming.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