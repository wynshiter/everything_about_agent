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2286000"/>
            <a:ext cx="12801600" cy="2743200"/>
          </a:xfrm>
          <a:prstGeom prst="parallelogram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743200"/>
            <a:ext cx="1828800" cy="7620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8FB1"/>
                </a:solidFill>
                <a:latin typeface="Arial"/>
              </a:defRPr>
            </a:pPr>
            <a:r>
              <a:t>CHAPTER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Strategic Task Decomposition and Execution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9144000" cy="25400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0E4F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0E4F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0E4F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0E4F"/>
                </a:solidFill>
                <a:latin typeface="Arial"/>
              </a:defRPr>
            </a:pPr>
            <a:r>
              <a:t>Implementation Examples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0E4F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074920"/>
            <a:ext cx="457200" cy="457200"/>
          </a:xfrm>
          <a:prstGeom prst="ellipse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0E4F"/>
                </a:solidFill>
                <a:latin typeface="Arial"/>
              </a:defRPr>
            </a:pPr>
            <a:r>
              <a:t>Summary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Complex tasks require multi-step reasoning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Impulsive actions lead to suboptimal outcomes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Planning enables systematic problem-solving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Goal decomposition into manageable subtasks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Execution order affects overall 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91E6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Break down complex goals into actionable steps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Identify dependencies between subtasks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Allocate resources efficiently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Anticipate potential obstacles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Enable systematic progress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91E6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Key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76200" cy="1188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0020"/>
                </a:solidFill>
                <a:latin typeface="Arial"/>
              </a:defRPr>
            </a:pPr>
            <a:r>
              <a:t>Goal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0E4F"/>
                </a:solidFill>
                <a:latin typeface="Arial"/>
              </a:defRPr>
            </a:pPr>
            <a:r>
              <a:t>Breaking objectives into subtasks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76200" cy="1188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0020"/>
                </a:solidFill>
                <a:latin typeface="Arial"/>
              </a:defRPr>
            </a:pPr>
            <a:r>
              <a:t>Task Ordering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0E4F"/>
                </a:solidFill>
                <a:latin typeface="Arial"/>
              </a:defRPr>
            </a:pPr>
            <a:r>
              <a:t>Sequencing for optimal execution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76200" cy="1188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0020"/>
                </a:solidFill>
                <a:latin typeface="Arial"/>
              </a:defRPr>
            </a:pPr>
            <a:r>
              <a:t>Dependency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0E4F"/>
                </a:solidFill>
                <a:latin typeface="Arial"/>
              </a:defRPr>
            </a:pPr>
            <a:r>
              <a:t>Identifying prerequisite relationships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260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926080"/>
            <a:ext cx="76200" cy="1188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0020"/>
                </a:solidFill>
                <a:latin typeface="Arial"/>
              </a:defRPr>
            </a:pPr>
            <a:r>
              <a:t>Resource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29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0E4F"/>
                </a:solidFill>
                <a:latin typeface="Arial"/>
              </a:defRPr>
            </a:pPr>
            <a:r>
              <a:t>Assigning capabilities to tasks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297680"/>
            <a:ext cx="40233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97680"/>
            <a:ext cx="76200" cy="1188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0020"/>
                </a:solidFill>
                <a:latin typeface="Arial"/>
              </a:defRPr>
            </a:pPr>
            <a:r>
              <a:t>Plan Revision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0E4F"/>
                </a:solidFill>
                <a:latin typeface="Arial"/>
              </a:defRPr>
            </a:pPr>
            <a:r>
              <a:t>Adapting to changing 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91E6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Comparison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411480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Without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463040"/>
            <a:ext cx="411480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With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3774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No foresight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632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Fast response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Miss optimal solutions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4348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No long-term strategy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120640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Prone to dead ends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2103120"/>
            <a:ext cx="4114800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0" y="23774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286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Strategic approach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30632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Anticipates future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37490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Optimizes resources</a:t>
            </a:r>
          </a:p>
        </p:txBody>
      </p:sp>
      <p:sp>
        <p:nvSpPr>
          <p:cNvPr id="27" name="Oval 26"/>
          <p:cNvSpPr/>
          <p:nvPr/>
        </p:nvSpPr>
        <p:spPr>
          <a:xfrm>
            <a:off x="4937760" y="44348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3434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Clear roadmap</a:t>
            </a:r>
          </a:p>
        </p:txBody>
      </p:sp>
      <p:sp>
        <p:nvSpPr>
          <p:cNvPr id="29" name="Oval 28"/>
          <p:cNvSpPr/>
          <p:nvPr/>
        </p:nvSpPr>
        <p:spPr>
          <a:xfrm>
            <a:off x="4937760" y="5120640"/>
            <a:ext cx="109728" cy="10972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0E4F"/>
                </a:solidFill>
                <a:latin typeface="Arial"/>
              </a:defRPr>
            </a:pPr>
            <a:r>
              <a:t>Higher success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91E63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6350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01600" cy="5029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Project automation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7744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Multi-step research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Complex problem solving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Workflow orchestration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5720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0E4F"/>
                </a:solidFill>
                <a:latin typeface="Arial"/>
              </a:defRPr>
            </a:pPr>
            <a:r>
              <a:t>Resource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91E63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Code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68096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C9B0"/>
                </a:solidFill>
                <a:latin typeface="Courier New"/>
              </a:defRPr>
            </a:pPr>
            <a:r>
              <a:t>$ python src/agents/patterns/planning.py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0E4F"/>
                </a:solidFill>
                <a:latin typeface="Arial"/>
              </a:defRPr>
            </a:pPr>
            <a:r>
              <a:t>Run this command to execute the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76809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0E4F"/>
                </a:solidFill>
                <a:latin typeface="Arial"/>
              </a:defRPr>
            </a:pPr>
            <a:r>
              <a:t>Features: LangChain LCEL | Google ADK | Async Support | Error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E91E63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5486400" y="0"/>
            <a:ext cx="5486400" cy="6858000"/>
          </a:xfrm>
          <a:prstGeom prst="parallelogram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" cy="365760"/>
          </a:xfrm>
          <a:prstGeom prst="round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002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Understand the problem context and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365760" cy="365760"/>
          </a:xfrm>
          <a:prstGeom prst="round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002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Apply the pattern when conditions are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365760" cy="365760"/>
          </a:xfrm>
          <a:prstGeom prst="round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002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Compare trade-offs before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65760" cy="365760"/>
          </a:xfrm>
          <a:prstGeom prst="round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77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002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Follow best practices for optimal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365760" cy="365760"/>
          </a:xfrm>
          <a:prstGeom prst="round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002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Monitor and iterate for continuous improvement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828800" y="3657600"/>
            <a:ext cx="5486400" cy="3657600"/>
          </a:xfrm>
          <a:prstGeom prst="parallelogram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828800" cy="6350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[1] Yao, S., et al. (2023). Tree of Thoughts. NeurIPS.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[2] Wei, J., et al. (2022). Chain-of-Thought Prompting. NeurIPS.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[3] Wang, X., et al. (2023). Plan-and-Solve Prompting. ACL.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[4] Inner Monologue Project - innermonologue.github.io/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rial"/>
              </a:defRPr>
            </a:pPr>
            <a:r>
              <a:t>[5] Russell, S., &amp; Norvig, P. (2020). AI: A Modern Approach. Pearson.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